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85190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[0:00–0:10]  Hi — we're Team Studify, and this is Tripify: an AI travel teammate that helps groups plan trips together. In the next four minutes: what it is, what makes it different, a walkthrough of the prototype, and how we'll build it in three weeks.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[0:10–0:40]  Planning a group trip was never a search problem — it's a group decision-making problem. Today the research lives across five different apps: flights here, hotels there, the actual debate buried in a WhatsApp group. Everyone has a different budget, a different pace, a different tolerance for walking. And when the group finally agrees, a flight delay or a rainy forecast resets everything. No existing tool owns that decision.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[0:40–1:05]  Tripify is an AI travel teammate that lives in your group's trip workspace. Three verbs: it researches real destinations, it proposes changes with a clear rationale, and it replans when reality changes. And one rule that never bends: it never modifies the trip without the group's vote.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[1:05–1:35]  Here's the twist. Most AI travel tools generate an itinerary and hope you like it. Tripify treats trip planning like a pull request. The AI proposes — with the why, the diff, and the impact. The group votes — approve, modify, reject. Every approved change bumps the itinerary to a new version, so nothing is ever stale or silently overwritten. And a 'no' vote isn't a dead end — the AI reads the objections and comes back with a compromise. That loop is the product.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[1:35–1:55]  That's also the gap. Across group decisions, AI research, shared context, dynamic replanning and itinerary planning, the tools you know each cover one slice. Tripify is the only one that covers all five — because for us the group decision is the product, not a feature.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[1:55–2:00]  Let me show you the prototype — four screens, walking the loop end to end.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[2:00–2:25]  This is the trip dashboard — deliberately a decision workspace, not a travel portal. Three panels: the itinerary on the left is the source of truth; the map in the middle gives context — routes and live travel times; and TripMate, our AI, sits on the right chatting with the group like a teammate. The bottom bar always shows what needs a decision and what's left in the budget.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[2:25–2:45]  When someone asks for ideas, recommendations are scored for this specific group — group fit, experience, cost, convenience, reliability. TeamLab scores 91 because all four of us are interested and it's indoor on a rainy day. Every card flags its risks — crowded after two — and ships with a named backup plan.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[2:45–3:15]  Now the core screen — the proposal card. Day 3 currently needs eleven kilometres of walking, so the AI proposes a lighter day. It shows why, exactly what changes, and the impact: walking drops from 11.2 to 6.1 kilometres, group fit rises from 82 to 91. Members vote right on the card. Three of four approve — and the moment it passes, the itinerary updates as version four. If it's rejected, the AI reads the objections and comes back with a compromise.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[3:15–3:35]  And when reality breaks the plan — a delayed flight, rain on day three — the AI detects every affected activity, researches alternatives, and drops a backup proposal into the same vote loop. The trip never stalls; it rebases.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[3:35–3:55]  Under the hood we kept the stack deliberately boring so we can build fast: Next.js with TypeScript end to end; Supabase for Postgres, auth, realtime and row-level security; LangChain on OpenRouter for tool-calling; Google Places and Routes plus Open-Meteo for live data; next-intl for three languages from day one; and Vercel plus Supabase Cloud for hosting.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[3:55–4:15]  The build is eighteen days across twelve phases. Week one is the core app — trips, itinerary, maps, chat. Then the AI foundation, then the proposal system — our critical path, in orange — then research and replanning, and two full days of polish for the demo.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[4:15–4:30]  For a group planning one trip, Tripify means no more lost threads, no silent overrides, and plans that survive contact with reality. Groups don't need another itinerary generator — they need a way to decide together. That's Tripify. Thank you.</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D3142"/>
        </a:solidFill>
        <a:effectLst/>
      </p:bgPr>
    </p:bg>
    <p:spTree>
      <p:nvGrpSpPr>
        <p:cNvPr id="1" name=""/>
        <p:cNvGrpSpPr/>
        <p:nvPr/>
      </p:nvGrpSpPr>
      <p:grpSpPr>
        <a:xfrm>
          <a:off x="0" y="0"/>
          <a:ext cx="0" cy="0"/>
          <a:chOff x="0" y="0"/>
          <a:chExt cx="0" cy="0"/>
        </a:xfrm>
      </p:grpSpPr>
      <p:sp>
        <p:nvSpPr>
          <p:cNvPr id="2" name="Text 0"/>
          <p:cNvSpPr/>
          <p:nvPr/>
        </p:nvSpPr>
        <p:spPr>
          <a:xfrm>
            <a:off x="548640" y="1554480"/>
            <a:ext cx="8229600" cy="292608"/>
          </a:xfrm>
          <a:prstGeom prst="rect">
            <a:avLst/>
          </a:prstGeom>
          <a:noFill/>
          <a:ln/>
        </p:spPr>
        <p:txBody>
          <a:bodyPr wrap="square" lIns="0" tIns="0" rIns="0" bIns="0" rtlCol="0" anchor="ctr"/>
          <a:lstStyle/>
          <a:p>
            <a:pPr marL="0" indent="0">
              <a:buNone/>
            </a:pPr>
            <a:r>
              <a:rPr lang="en-US" sz="1200" b="1" kern="0" spc="400" dirty="0">
                <a:solidFill>
                  <a:srgbClr val="BFC0C0"/>
                </a:solidFill>
                <a:latin typeface="Segoe UI" pitchFamily="34" charset="0"/>
                <a:ea typeface="Segoe UI" pitchFamily="34" charset="-122"/>
                <a:cs typeface="Segoe UI" pitchFamily="34" charset="-120"/>
              </a:rPr>
              <a:t>TEAM STUDIFY  ·  HACKATHON VIDEO PITCH</a:t>
            </a:r>
            <a:endParaRPr lang="en-US" sz="1200" dirty="0"/>
          </a:p>
        </p:txBody>
      </p:sp>
      <p:sp>
        <p:nvSpPr>
          <p:cNvPr id="3" name="Text 1"/>
          <p:cNvSpPr/>
          <p:nvPr/>
        </p:nvSpPr>
        <p:spPr>
          <a:xfrm>
            <a:off x="512064" y="1828800"/>
            <a:ext cx="8229600" cy="1371600"/>
          </a:xfrm>
          <a:prstGeom prst="rect">
            <a:avLst/>
          </a:prstGeom>
          <a:noFill/>
          <a:ln/>
        </p:spPr>
        <p:txBody>
          <a:bodyPr wrap="square" lIns="0" tIns="0" rIns="0" bIns="0" rtlCol="0" anchor="ctr"/>
          <a:lstStyle/>
          <a:p>
            <a:pPr marL="0" indent="0">
              <a:buNone/>
            </a:pPr>
            <a:r>
              <a:rPr lang="en-US" sz="7600" dirty="0">
                <a:solidFill>
                  <a:srgbClr val="F5F5F5"/>
                </a:solidFill>
                <a:latin typeface="Georgia" pitchFamily="34" charset="0"/>
                <a:ea typeface="Georgia" pitchFamily="34" charset="-122"/>
                <a:cs typeface="Georgia" pitchFamily="34" charset="-120"/>
              </a:rPr>
              <a:t>Tripify</a:t>
            </a:r>
            <a:r>
              <a:rPr lang="en-US" sz="7600" dirty="0">
                <a:solidFill>
                  <a:srgbClr val="EB6C36"/>
                </a:solidFill>
                <a:latin typeface="Georgia" pitchFamily="34" charset="0"/>
                <a:ea typeface="Georgia" pitchFamily="34" charset="-122"/>
                <a:cs typeface="Georgia" pitchFamily="34" charset="-120"/>
              </a:rPr>
              <a:t>.</a:t>
            </a:r>
            <a:endParaRPr lang="en-US" sz="7600" dirty="0"/>
          </a:p>
        </p:txBody>
      </p:sp>
      <p:sp>
        <p:nvSpPr>
          <p:cNvPr id="4" name="Text 2"/>
          <p:cNvSpPr/>
          <p:nvPr/>
        </p:nvSpPr>
        <p:spPr>
          <a:xfrm>
            <a:off x="548640" y="3310128"/>
            <a:ext cx="6309360" cy="1188720"/>
          </a:xfrm>
          <a:prstGeom prst="rect">
            <a:avLst/>
          </a:prstGeom>
          <a:noFill/>
          <a:ln/>
        </p:spPr>
        <p:txBody>
          <a:bodyPr wrap="square" lIns="0" tIns="0" rIns="0" bIns="0" rtlCol="0" anchor="ctr"/>
          <a:lstStyle/>
          <a:p>
            <a:pPr marL="0" indent="0">
              <a:lnSpc>
                <a:spcPts val="2800"/>
              </a:lnSpc>
              <a:buNone/>
            </a:pPr>
            <a:r>
              <a:rPr lang="en-US" sz="1900" dirty="0">
                <a:solidFill>
                  <a:srgbClr val="BFC0C0"/>
                </a:solidFill>
                <a:latin typeface="Segoe UI" pitchFamily="34" charset="0"/>
                <a:ea typeface="Segoe UI" pitchFamily="34" charset="-122"/>
                <a:cs typeface="Segoe UI" pitchFamily="34" charset="-120"/>
              </a:rPr>
              <a:t>The AI travel teammate that helps groups decide together —</a:t>
            </a:r>
            <a:endParaRPr lang="en-US" sz="1900" dirty="0"/>
          </a:p>
          <a:p>
            <a:pPr marL="0" indent="0">
              <a:lnSpc>
                <a:spcPts val="2800"/>
              </a:lnSpc>
              <a:buNone/>
            </a:pPr>
            <a:r>
              <a:rPr lang="en-US" sz="1900" dirty="0">
                <a:solidFill>
                  <a:srgbClr val="BFC0C0"/>
                </a:solidFill>
                <a:latin typeface="Segoe UI" pitchFamily="34" charset="0"/>
                <a:ea typeface="Segoe UI" pitchFamily="34" charset="-122"/>
                <a:cs typeface="Segoe UI" pitchFamily="34" charset="-120"/>
              </a:rPr>
              <a:t>and replans when reality breaks the plan.</a:t>
            </a:r>
            <a:endParaRPr lang="en-US" sz="1900" dirty="0"/>
          </a:p>
        </p:txBody>
      </p:sp>
      <p:sp>
        <p:nvSpPr>
          <p:cNvPr id="5" name="Shape 3"/>
          <p:cNvSpPr/>
          <p:nvPr/>
        </p:nvSpPr>
        <p:spPr>
          <a:xfrm>
            <a:off x="548640" y="5742432"/>
            <a:ext cx="5486400" cy="0"/>
          </a:xfrm>
          <a:prstGeom prst="line">
            <a:avLst/>
          </a:prstGeom>
          <a:noFill/>
          <a:ln w="12700">
            <a:solidFill>
              <a:srgbClr val="454A5E"/>
            </a:solidFill>
            <a:prstDash val="solid"/>
          </a:ln>
        </p:spPr>
        <p:txBody>
          <a:bodyPr/>
          <a:lstStyle/>
          <a:p>
            <a:endParaRPr/>
          </a:p>
        </p:txBody>
      </p:sp>
      <p:sp>
        <p:nvSpPr>
          <p:cNvPr id="6" name="Text 4"/>
          <p:cNvSpPr/>
          <p:nvPr/>
        </p:nvSpPr>
        <p:spPr>
          <a:xfrm>
            <a:off x="548640" y="5943600"/>
            <a:ext cx="7315200" cy="365760"/>
          </a:xfrm>
          <a:prstGeom prst="rect">
            <a:avLst/>
          </a:prstGeom>
          <a:noFill/>
          <a:ln/>
        </p:spPr>
        <p:txBody>
          <a:bodyPr wrap="square" lIns="0" tIns="0" rIns="0" bIns="0" rtlCol="0" anchor="ctr"/>
          <a:lstStyle/>
          <a:p>
            <a:pPr marL="0" indent="0">
              <a:buNone/>
            </a:pPr>
            <a:r>
              <a:rPr lang="en-US" sz="1400" dirty="0">
                <a:solidFill>
                  <a:srgbClr val="BFC0C0"/>
                </a:solidFill>
                <a:latin typeface="Segoe UI" pitchFamily="34" charset="0"/>
                <a:ea typeface="Segoe UI" pitchFamily="34" charset="-122"/>
                <a:cs typeface="Segoe UI" pitchFamily="34" charset="-120"/>
              </a:rPr>
              <a:t>Tan Sim Po      ·      She Jia Xuan      ·      Chong Wei Xuan</a:t>
            </a:r>
            <a:endParaRPr lang="en-US" sz="1400" dirty="0"/>
          </a:p>
        </p:txBody>
      </p:sp>
      <p:pic>
        <p:nvPicPr>
          <p:cNvPr id="7" name="Image 0" descr="C:/Users/weixu/Tripify/docs/diagrams/decision-loop.png"/>
          <p:cNvPicPr>
            <a:picLocks noChangeAspect="1"/>
          </p:cNvPicPr>
          <p:nvPr/>
        </p:nvPicPr>
        <p:blipFill>
          <a:blip r:embed="rId3"/>
          <a:stretch>
            <a:fillRect/>
          </a:stretch>
        </p:blipFill>
        <p:spPr>
          <a:xfrm>
            <a:off x="7059168" y="1847088"/>
            <a:ext cx="4572000" cy="2990088"/>
          </a:xfrm>
          <a:prstGeom prst="rect">
            <a:avLst/>
          </a:prstGeom>
        </p:spPr>
      </p:pic>
      <p:sp>
        <p:nvSpPr>
          <p:cNvPr id="8" name="Text 5"/>
          <p:cNvSpPr/>
          <p:nvPr/>
        </p:nvSpPr>
        <p:spPr>
          <a:xfrm>
            <a:off x="7059168" y="4956048"/>
            <a:ext cx="4572000" cy="274320"/>
          </a:xfrm>
          <a:prstGeom prst="rect">
            <a:avLst/>
          </a:prstGeom>
          <a:noFill/>
          <a:ln/>
        </p:spPr>
        <p:txBody>
          <a:bodyPr wrap="square" lIns="0" tIns="0" rIns="0" bIns="0" rtlCol="0" anchor="ctr"/>
          <a:lstStyle/>
          <a:p>
            <a:pPr marL="0" indent="0" algn="ctr">
              <a:buNone/>
            </a:pPr>
            <a:r>
              <a:rPr lang="en-US" sz="1200" dirty="0">
                <a:solidFill>
                  <a:srgbClr val="7A8399"/>
                </a:solidFill>
                <a:latin typeface="Segoe UI" pitchFamily="34" charset="0"/>
                <a:ea typeface="Segoe UI" pitchFamily="34" charset="-122"/>
                <a:cs typeface="Segoe UI" pitchFamily="34" charset="-120"/>
              </a:rPr>
              <a:t>The Tripify loop — every change is proposed, voted, and versioned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548640" y="475488"/>
            <a:ext cx="8229600" cy="292608"/>
          </a:xfrm>
          <a:prstGeom prst="rect">
            <a:avLst/>
          </a:prstGeom>
          <a:noFill/>
          <a:ln/>
        </p:spPr>
        <p:txBody>
          <a:bodyPr wrap="square" lIns="0" tIns="0" rIns="0" bIns="0" rtlCol="0" anchor="ctr"/>
          <a:lstStyle/>
          <a:p>
            <a:pPr marL="0" indent="0">
              <a:buNone/>
            </a:pPr>
            <a:r>
              <a:rPr lang="en-US" sz="1200" b="1" kern="0" spc="400" dirty="0">
                <a:solidFill>
                  <a:srgbClr val="4F5D75"/>
                </a:solidFill>
                <a:latin typeface="Segoe UI" pitchFamily="34" charset="0"/>
                <a:ea typeface="Segoe UI" pitchFamily="34" charset="-122"/>
                <a:cs typeface="Segoe UI" pitchFamily="34" charset="-120"/>
              </a:rPr>
              <a:t>THE PROBLEM</a:t>
            </a:r>
            <a:endParaRPr lang="en-US" sz="1200" dirty="0"/>
          </a:p>
        </p:txBody>
      </p:sp>
      <p:sp>
        <p:nvSpPr>
          <p:cNvPr id="3" name="Text 1"/>
          <p:cNvSpPr/>
          <p:nvPr/>
        </p:nvSpPr>
        <p:spPr>
          <a:xfrm>
            <a:off x="548640" y="841248"/>
            <a:ext cx="11091672" cy="1371600"/>
          </a:xfrm>
          <a:prstGeom prst="rect">
            <a:avLst/>
          </a:prstGeom>
          <a:noFill/>
          <a:ln/>
        </p:spPr>
        <p:txBody>
          <a:bodyPr wrap="square" lIns="0" tIns="0" rIns="0" bIns="0" rtlCol="0" anchor="ctr"/>
          <a:lstStyle/>
          <a:p>
            <a:pPr marL="0" indent="0">
              <a:buNone/>
            </a:pPr>
            <a:r>
              <a:rPr lang="en-US" sz="3000" dirty="0">
                <a:solidFill>
                  <a:srgbClr val="2D3142"/>
                </a:solidFill>
                <a:latin typeface="Georgia" pitchFamily="34" charset="0"/>
                <a:ea typeface="Georgia" pitchFamily="34" charset="-122"/>
                <a:cs typeface="Georgia" pitchFamily="34" charset="-120"/>
              </a:rPr>
              <a:t>Group travel planning is a decision problem —</a:t>
            </a:r>
            <a:endParaRPr lang="en-US" sz="3000" dirty="0"/>
          </a:p>
          <a:p>
            <a:pPr marL="0" indent="0">
              <a:buNone/>
            </a:pPr>
            <a:r>
              <a:rPr lang="en-US" sz="3000" dirty="0">
                <a:solidFill>
                  <a:srgbClr val="2D3142"/>
                </a:solidFill>
                <a:latin typeface="Georgia" pitchFamily="34" charset="0"/>
                <a:ea typeface="Georgia" pitchFamily="34" charset="-122"/>
                <a:cs typeface="Georgia" pitchFamily="34" charset="-120"/>
              </a:rPr>
              <a:t>not a search problem.</a:t>
            </a:r>
            <a:endParaRPr lang="en-US" sz="3000" dirty="0"/>
          </a:p>
        </p:txBody>
      </p:sp>
      <p:sp>
        <p:nvSpPr>
          <p:cNvPr id="4" name="Text 2"/>
          <p:cNvSpPr/>
          <p:nvPr/>
        </p:nvSpPr>
        <p:spPr>
          <a:xfrm>
            <a:off x="548640" y="2651760"/>
            <a:ext cx="1371600" cy="914400"/>
          </a:xfrm>
          <a:prstGeom prst="rect">
            <a:avLst/>
          </a:prstGeom>
          <a:noFill/>
          <a:ln/>
        </p:spPr>
        <p:txBody>
          <a:bodyPr wrap="square" lIns="0" tIns="0" rIns="0" bIns="0" rtlCol="0" anchor="ctr"/>
          <a:lstStyle/>
          <a:p>
            <a:pPr marL="0" indent="0">
              <a:buNone/>
            </a:pPr>
            <a:r>
              <a:rPr lang="en-US" sz="5400" dirty="0">
                <a:solidFill>
                  <a:srgbClr val="2D3142"/>
                </a:solidFill>
                <a:latin typeface="Georgia" pitchFamily="34" charset="0"/>
                <a:ea typeface="Georgia" pitchFamily="34" charset="-122"/>
                <a:cs typeface="Georgia" pitchFamily="34" charset="-120"/>
              </a:rPr>
              <a:t>5+</a:t>
            </a:r>
            <a:endParaRPr lang="en-US" sz="5400" dirty="0"/>
          </a:p>
        </p:txBody>
      </p:sp>
      <p:sp>
        <p:nvSpPr>
          <p:cNvPr id="5" name="Text 3"/>
          <p:cNvSpPr/>
          <p:nvPr/>
        </p:nvSpPr>
        <p:spPr>
          <a:xfrm>
            <a:off x="2103120" y="2779776"/>
            <a:ext cx="4114800" cy="960120"/>
          </a:xfrm>
          <a:prstGeom prst="rect">
            <a:avLst/>
          </a:prstGeom>
          <a:noFill/>
          <a:ln/>
        </p:spPr>
        <p:txBody>
          <a:bodyPr wrap="square" lIns="0" tIns="0" rIns="0" bIns="0" rtlCol="0" anchor="ctr"/>
          <a:lstStyle/>
          <a:p>
            <a:pPr marL="0" indent="0">
              <a:lnSpc>
                <a:spcPts val="1900"/>
              </a:lnSpc>
              <a:buNone/>
            </a:pPr>
            <a:r>
              <a:rPr lang="en-US" sz="1400" dirty="0">
                <a:solidFill>
                  <a:srgbClr val="4F5D75"/>
                </a:solidFill>
                <a:latin typeface="Segoe UI" pitchFamily="34" charset="0"/>
                <a:ea typeface="Segoe UI" pitchFamily="34" charset="-122"/>
                <a:cs typeface="Segoe UI" pitchFamily="34" charset="-120"/>
              </a:rPr>
              <a:t>apps to plan one trip — flights, stays, maps, splits, and a WhatsApp group that scrolls into oblivion</a:t>
            </a:r>
            <a:endParaRPr lang="en-US" sz="1400" dirty="0"/>
          </a:p>
        </p:txBody>
      </p:sp>
      <p:sp>
        <p:nvSpPr>
          <p:cNvPr id="6" name="Shape 4"/>
          <p:cNvSpPr/>
          <p:nvPr/>
        </p:nvSpPr>
        <p:spPr>
          <a:xfrm>
            <a:off x="548640" y="3694176"/>
            <a:ext cx="5669280" cy="0"/>
          </a:xfrm>
          <a:prstGeom prst="line">
            <a:avLst/>
          </a:prstGeom>
          <a:noFill/>
          <a:ln w="12700">
            <a:solidFill>
              <a:srgbClr val="D9D9DE"/>
            </a:solidFill>
            <a:prstDash val="solid"/>
          </a:ln>
        </p:spPr>
        <p:txBody>
          <a:bodyPr/>
          <a:lstStyle/>
          <a:p>
            <a:endParaRPr/>
          </a:p>
        </p:txBody>
      </p:sp>
      <p:sp>
        <p:nvSpPr>
          <p:cNvPr id="7" name="Text 5"/>
          <p:cNvSpPr/>
          <p:nvPr/>
        </p:nvSpPr>
        <p:spPr>
          <a:xfrm>
            <a:off x="548640" y="3840480"/>
            <a:ext cx="1371600" cy="914400"/>
          </a:xfrm>
          <a:prstGeom prst="rect">
            <a:avLst/>
          </a:prstGeom>
          <a:noFill/>
          <a:ln/>
        </p:spPr>
        <p:txBody>
          <a:bodyPr wrap="square" lIns="0" tIns="0" rIns="0" bIns="0" rtlCol="0" anchor="ctr"/>
          <a:lstStyle/>
          <a:p>
            <a:pPr marL="0" indent="0">
              <a:buNone/>
            </a:pPr>
            <a:r>
              <a:rPr lang="en-US" sz="5400" dirty="0">
                <a:solidFill>
                  <a:srgbClr val="2D3142"/>
                </a:solidFill>
                <a:latin typeface="Georgia" pitchFamily="34" charset="0"/>
                <a:ea typeface="Georgia" pitchFamily="34" charset="-122"/>
                <a:cs typeface="Georgia" pitchFamily="34" charset="-120"/>
              </a:rPr>
              <a:t>0</a:t>
            </a:r>
            <a:endParaRPr lang="en-US" sz="5400" dirty="0"/>
          </a:p>
        </p:txBody>
      </p:sp>
      <p:sp>
        <p:nvSpPr>
          <p:cNvPr id="8" name="Text 6"/>
          <p:cNvSpPr/>
          <p:nvPr/>
        </p:nvSpPr>
        <p:spPr>
          <a:xfrm>
            <a:off x="2103120" y="3968496"/>
            <a:ext cx="4114800" cy="960120"/>
          </a:xfrm>
          <a:prstGeom prst="rect">
            <a:avLst/>
          </a:prstGeom>
          <a:noFill/>
          <a:ln/>
        </p:spPr>
        <p:txBody>
          <a:bodyPr wrap="square" lIns="0" tIns="0" rIns="0" bIns="0" rtlCol="0" anchor="ctr"/>
          <a:lstStyle/>
          <a:p>
            <a:pPr marL="0" indent="0">
              <a:lnSpc>
                <a:spcPts val="1900"/>
              </a:lnSpc>
              <a:buNone/>
            </a:pPr>
            <a:r>
              <a:rPr lang="en-US" sz="1400" dirty="0">
                <a:solidFill>
                  <a:srgbClr val="4F5D75"/>
                </a:solidFill>
                <a:latin typeface="Segoe UI" pitchFamily="34" charset="0"/>
                <a:ea typeface="Segoe UI" pitchFamily="34" charset="-122"/>
                <a:cs typeface="Segoe UI" pitchFamily="34" charset="-120"/>
              </a:rPr>
              <a:t>tools own the group's decision — no proposals, no votes, no shared memory</a:t>
            </a:r>
            <a:endParaRPr lang="en-US" sz="1400" dirty="0"/>
          </a:p>
        </p:txBody>
      </p:sp>
      <p:sp>
        <p:nvSpPr>
          <p:cNvPr id="9" name="Shape 7"/>
          <p:cNvSpPr/>
          <p:nvPr/>
        </p:nvSpPr>
        <p:spPr>
          <a:xfrm>
            <a:off x="548640" y="4882896"/>
            <a:ext cx="5669280" cy="0"/>
          </a:xfrm>
          <a:prstGeom prst="line">
            <a:avLst/>
          </a:prstGeom>
          <a:noFill/>
          <a:ln w="12700">
            <a:solidFill>
              <a:srgbClr val="D9D9DE"/>
            </a:solidFill>
            <a:prstDash val="solid"/>
          </a:ln>
        </p:spPr>
        <p:txBody>
          <a:bodyPr/>
          <a:lstStyle/>
          <a:p>
            <a:endParaRPr/>
          </a:p>
        </p:txBody>
      </p:sp>
      <p:sp>
        <p:nvSpPr>
          <p:cNvPr id="10" name="Text 8"/>
          <p:cNvSpPr/>
          <p:nvPr/>
        </p:nvSpPr>
        <p:spPr>
          <a:xfrm>
            <a:off x="548640" y="5029200"/>
            <a:ext cx="1371600" cy="914400"/>
          </a:xfrm>
          <a:prstGeom prst="rect">
            <a:avLst/>
          </a:prstGeom>
          <a:noFill/>
          <a:ln/>
        </p:spPr>
        <p:txBody>
          <a:bodyPr wrap="square" lIns="0" tIns="0" rIns="0" bIns="0" rtlCol="0" anchor="ctr"/>
          <a:lstStyle/>
          <a:p>
            <a:pPr marL="0" indent="0">
              <a:buNone/>
            </a:pPr>
            <a:r>
              <a:rPr lang="en-US" sz="5400" dirty="0">
                <a:solidFill>
                  <a:srgbClr val="2D3142"/>
                </a:solidFill>
                <a:latin typeface="Georgia" pitchFamily="34" charset="0"/>
                <a:ea typeface="Georgia" pitchFamily="34" charset="-122"/>
                <a:cs typeface="Georgia" pitchFamily="34" charset="-120"/>
              </a:rPr>
              <a:t>1</a:t>
            </a:r>
            <a:endParaRPr lang="en-US" sz="5400" dirty="0"/>
          </a:p>
        </p:txBody>
      </p:sp>
      <p:sp>
        <p:nvSpPr>
          <p:cNvPr id="11" name="Text 9"/>
          <p:cNvSpPr/>
          <p:nvPr/>
        </p:nvSpPr>
        <p:spPr>
          <a:xfrm>
            <a:off x="2103120" y="5157216"/>
            <a:ext cx="4114800" cy="960120"/>
          </a:xfrm>
          <a:prstGeom prst="rect">
            <a:avLst/>
          </a:prstGeom>
          <a:noFill/>
          <a:ln/>
        </p:spPr>
        <p:txBody>
          <a:bodyPr wrap="square" lIns="0" tIns="0" rIns="0" bIns="0" rtlCol="0" anchor="ctr"/>
          <a:lstStyle/>
          <a:p>
            <a:pPr marL="0" indent="0">
              <a:lnSpc>
                <a:spcPts val="1900"/>
              </a:lnSpc>
              <a:buNone/>
            </a:pPr>
            <a:r>
              <a:rPr lang="en-US" sz="1400" dirty="0">
                <a:solidFill>
                  <a:srgbClr val="4F5D75"/>
                </a:solidFill>
                <a:latin typeface="Segoe UI" pitchFamily="34" charset="0"/>
                <a:ea typeface="Segoe UI" pitchFamily="34" charset="-122"/>
                <a:cs typeface="Segoe UI" pitchFamily="34" charset="-120"/>
              </a:rPr>
              <a:t>person quietly ends up deciding everything for everyone</a:t>
            </a:r>
            <a:endParaRPr lang="en-US" sz="1400" dirty="0"/>
          </a:p>
        </p:txBody>
      </p:sp>
      <p:pic>
        <p:nvPicPr>
          <p:cNvPr id="12" name="Image 0" descr="C:/Users/weixu/Tripify/docs/diagrams/problem-tree.png"/>
          <p:cNvPicPr>
            <a:picLocks noChangeAspect="1"/>
          </p:cNvPicPr>
          <p:nvPr/>
        </p:nvPicPr>
        <p:blipFill>
          <a:blip r:embed="rId3"/>
          <a:stretch>
            <a:fillRect/>
          </a:stretch>
        </p:blipFill>
        <p:spPr>
          <a:xfrm>
            <a:off x="6537960" y="2651760"/>
            <a:ext cx="5102352" cy="2450592"/>
          </a:xfrm>
          <a:prstGeom prst="rect">
            <a:avLst/>
          </a:prstGeom>
        </p:spPr>
      </p:pic>
      <p:sp>
        <p:nvSpPr>
          <p:cNvPr id="13" name="Text 10"/>
          <p:cNvSpPr/>
          <p:nvPr/>
        </p:nvSpPr>
        <p:spPr>
          <a:xfrm>
            <a:off x="6537960" y="5175504"/>
            <a:ext cx="5102352" cy="274320"/>
          </a:xfrm>
          <a:prstGeom prst="rect">
            <a:avLst/>
          </a:prstGeom>
          <a:noFill/>
          <a:ln/>
        </p:spPr>
        <p:txBody>
          <a:bodyPr wrap="square" lIns="0" tIns="0" rIns="0" bIns="0" rtlCol="0" anchor="ctr"/>
          <a:lstStyle/>
          <a:p>
            <a:pPr marL="0" indent="0" algn="ctr">
              <a:buNone/>
            </a:pPr>
            <a:r>
              <a:rPr lang="en-US" sz="1200" dirty="0">
                <a:solidFill>
                  <a:srgbClr val="7A8399"/>
                </a:solidFill>
                <a:latin typeface="Segoe UI" pitchFamily="34" charset="0"/>
                <a:ea typeface="Segoe UI" pitchFamily="34" charset="-122"/>
                <a:cs typeface="Segoe UI" pitchFamily="34" charset="-120"/>
              </a:rPr>
              <a:t>Four root causes of group travel stress — from our problem tree</a:t>
            </a:r>
            <a:endParaRPr lang="en-US" sz="1200" dirty="0"/>
          </a:p>
        </p:txBody>
      </p:sp>
      <p:sp>
        <p:nvSpPr>
          <p:cNvPr id="14" name="Text 11"/>
          <p:cNvSpPr/>
          <p:nvPr/>
        </p:nvSpPr>
        <p:spPr>
          <a:xfrm>
            <a:off x="11274552" y="6382512"/>
            <a:ext cx="457200" cy="274320"/>
          </a:xfrm>
          <a:prstGeom prst="rect">
            <a:avLst/>
          </a:prstGeom>
          <a:noFill/>
          <a:ln/>
        </p:spPr>
        <p:txBody>
          <a:bodyPr wrap="square" lIns="0" tIns="0" rIns="0" bIns="0" rtlCol="0" anchor="ctr"/>
          <a:lstStyle/>
          <a:p>
            <a:pPr marL="0" indent="0" algn="r">
              <a:buNone/>
            </a:pPr>
            <a:r>
              <a:rPr lang="en-US" sz="1200" dirty="0">
                <a:solidFill>
                  <a:srgbClr val="7A8399"/>
                </a:solidFill>
                <a:latin typeface="Segoe UI" pitchFamily="34" charset="0"/>
                <a:ea typeface="Segoe UI" pitchFamily="34" charset="-122"/>
                <a:cs typeface="Segoe UI"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548640" y="475488"/>
            <a:ext cx="8229600" cy="292608"/>
          </a:xfrm>
          <a:prstGeom prst="rect">
            <a:avLst/>
          </a:prstGeom>
          <a:noFill/>
          <a:ln/>
        </p:spPr>
        <p:txBody>
          <a:bodyPr wrap="square" lIns="0" tIns="0" rIns="0" bIns="0" rtlCol="0" anchor="ctr"/>
          <a:lstStyle/>
          <a:p>
            <a:pPr marL="0" indent="0">
              <a:buNone/>
            </a:pPr>
            <a:r>
              <a:rPr lang="en-US" sz="1200" b="1" kern="0" spc="400" dirty="0">
                <a:solidFill>
                  <a:srgbClr val="4F5D75"/>
                </a:solidFill>
                <a:latin typeface="Segoe UI" pitchFamily="34" charset="0"/>
                <a:ea typeface="Segoe UI" pitchFamily="34" charset="-122"/>
                <a:cs typeface="Segoe UI" pitchFamily="34" charset="-120"/>
              </a:rPr>
              <a:t>THE SOLUTION</a:t>
            </a:r>
            <a:endParaRPr lang="en-US" sz="1200" dirty="0"/>
          </a:p>
        </p:txBody>
      </p:sp>
      <p:sp>
        <p:nvSpPr>
          <p:cNvPr id="3" name="Text 1"/>
          <p:cNvSpPr/>
          <p:nvPr/>
        </p:nvSpPr>
        <p:spPr>
          <a:xfrm>
            <a:off x="548640" y="841248"/>
            <a:ext cx="11091672" cy="914400"/>
          </a:xfrm>
          <a:prstGeom prst="rect">
            <a:avLst/>
          </a:prstGeom>
          <a:noFill/>
          <a:ln/>
        </p:spPr>
        <p:txBody>
          <a:bodyPr wrap="square" lIns="0" tIns="0" rIns="0" bIns="0" rtlCol="0" anchor="ctr"/>
          <a:lstStyle/>
          <a:p>
            <a:pPr marL="0" indent="0">
              <a:buNone/>
            </a:pPr>
            <a:r>
              <a:rPr lang="en-US" sz="3000" dirty="0">
                <a:solidFill>
                  <a:srgbClr val="2D3142"/>
                </a:solidFill>
                <a:latin typeface="Georgia" pitchFamily="34" charset="0"/>
                <a:ea typeface="Georgia" pitchFamily="34" charset="-122"/>
                <a:cs typeface="Georgia" pitchFamily="34" charset="-120"/>
              </a:rPr>
              <a:t>Tripify is an AI teammate — not another itinerary generator</a:t>
            </a:r>
            <a:endParaRPr lang="en-US" sz="3000" dirty="0"/>
          </a:p>
        </p:txBody>
      </p:sp>
      <p:sp>
        <p:nvSpPr>
          <p:cNvPr id="4" name="Text 2"/>
          <p:cNvSpPr/>
          <p:nvPr/>
        </p:nvSpPr>
        <p:spPr>
          <a:xfrm>
            <a:off x="548640" y="1828800"/>
            <a:ext cx="10607040" cy="685800"/>
          </a:xfrm>
          <a:prstGeom prst="rect">
            <a:avLst/>
          </a:prstGeom>
          <a:noFill/>
          <a:ln/>
        </p:spPr>
        <p:txBody>
          <a:bodyPr wrap="square" lIns="0" tIns="0" rIns="0" bIns="0" rtlCol="0" anchor="ctr"/>
          <a:lstStyle/>
          <a:p>
            <a:pPr marL="0" indent="0">
              <a:lnSpc>
                <a:spcPts val="2300"/>
              </a:lnSpc>
              <a:buNone/>
            </a:pPr>
            <a:r>
              <a:rPr lang="en-US" sz="1600" dirty="0">
                <a:solidFill>
                  <a:srgbClr val="4F5D75"/>
                </a:solidFill>
                <a:latin typeface="Segoe UI" pitchFamily="34" charset="0"/>
                <a:ea typeface="Segoe UI" pitchFamily="34" charset="-122"/>
                <a:cs typeface="Segoe UI" pitchFamily="34" charset="-120"/>
              </a:rPr>
              <a:t>It researches real places, proposes changes with a clear rationale, and replans when reality breaks the plan. And it has one hard rule: it never touches the trip without </a:t>
            </a:r>
            <a:r>
              <a:rPr lang="en-US" sz="1600" b="1" dirty="0">
                <a:solidFill>
                  <a:srgbClr val="EB6C36"/>
                </a:solidFill>
                <a:latin typeface="Segoe UI" pitchFamily="34" charset="0"/>
                <a:ea typeface="Segoe UI" pitchFamily="34" charset="-122"/>
                <a:cs typeface="Segoe UI" pitchFamily="34" charset="-120"/>
              </a:rPr>
              <a:t>the group's vote.</a:t>
            </a:r>
            <a:endParaRPr lang="en-US" sz="1600" dirty="0"/>
          </a:p>
        </p:txBody>
      </p:sp>
      <p:sp>
        <p:nvSpPr>
          <p:cNvPr id="5" name="Shape 3"/>
          <p:cNvSpPr/>
          <p:nvPr/>
        </p:nvSpPr>
        <p:spPr>
          <a:xfrm>
            <a:off x="548640" y="2734056"/>
            <a:ext cx="11091672" cy="0"/>
          </a:xfrm>
          <a:prstGeom prst="line">
            <a:avLst/>
          </a:prstGeom>
          <a:noFill/>
          <a:ln w="12700">
            <a:solidFill>
              <a:srgbClr val="D9D9DE"/>
            </a:solidFill>
            <a:prstDash val="solid"/>
          </a:ln>
        </p:spPr>
        <p:txBody>
          <a:bodyPr/>
          <a:lstStyle/>
          <a:p>
            <a:endParaRPr/>
          </a:p>
        </p:txBody>
      </p:sp>
      <p:sp>
        <p:nvSpPr>
          <p:cNvPr id="6" name="Text 4"/>
          <p:cNvSpPr/>
          <p:nvPr/>
        </p:nvSpPr>
        <p:spPr>
          <a:xfrm>
            <a:off x="548640" y="2880360"/>
            <a:ext cx="1005840" cy="777240"/>
          </a:xfrm>
          <a:prstGeom prst="rect">
            <a:avLst/>
          </a:prstGeom>
          <a:noFill/>
          <a:ln/>
        </p:spPr>
        <p:txBody>
          <a:bodyPr wrap="square" lIns="0" tIns="0" rIns="0" bIns="0" rtlCol="0" anchor="ctr"/>
          <a:lstStyle/>
          <a:p>
            <a:pPr marL="0" indent="0">
              <a:buNone/>
            </a:pPr>
            <a:r>
              <a:rPr lang="en-US" sz="4000" dirty="0">
                <a:solidFill>
                  <a:srgbClr val="2D3142"/>
                </a:solidFill>
                <a:latin typeface="Georgia" pitchFamily="34" charset="0"/>
                <a:ea typeface="Georgia" pitchFamily="34" charset="-122"/>
                <a:cs typeface="Georgia" pitchFamily="34" charset="-120"/>
              </a:rPr>
              <a:t>01</a:t>
            </a:r>
            <a:endParaRPr lang="en-US" sz="4000" dirty="0"/>
          </a:p>
        </p:txBody>
      </p:sp>
      <p:sp>
        <p:nvSpPr>
          <p:cNvPr id="7" name="Text 5"/>
          <p:cNvSpPr/>
          <p:nvPr/>
        </p:nvSpPr>
        <p:spPr>
          <a:xfrm>
            <a:off x="1737360" y="2953512"/>
            <a:ext cx="2011680" cy="320040"/>
          </a:xfrm>
          <a:prstGeom prst="rect">
            <a:avLst/>
          </a:prstGeom>
          <a:noFill/>
          <a:ln/>
        </p:spPr>
        <p:txBody>
          <a:bodyPr wrap="square" lIns="0" tIns="0" rIns="0" bIns="0" rtlCol="0" anchor="ctr"/>
          <a:lstStyle/>
          <a:p>
            <a:pPr marL="0" indent="0">
              <a:buNone/>
            </a:pPr>
            <a:r>
              <a:rPr lang="en-US" sz="1500" b="1" kern="0" spc="200" dirty="0">
                <a:solidFill>
                  <a:srgbClr val="2D3142"/>
                </a:solidFill>
                <a:latin typeface="Segoe UI" pitchFamily="34" charset="0"/>
                <a:ea typeface="Segoe UI" pitchFamily="34" charset="-122"/>
                <a:cs typeface="Segoe UI" pitchFamily="34" charset="-120"/>
              </a:rPr>
              <a:t>RESEARCH</a:t>
            </a:r>
            <a:endParaRPr lang="en-US" sz="1500" dirty="0"/>
          </a:p>
        </p:txBody>
      </p:sp>
      <p:sp>
        <p:nvSpPr>
          <p:cNvPr id="8" name="Text 6"/>
          <p:cNvSpPr/>
          <p:nvPr/>
        </p:nvSpPr>
        <p:spPr>
          <a:xfrm>
            <a:off x="3840480" y="2898648"/>
            <a:ext cx="7772400" cy="868680"/>
          </a:xfrm>
          <a:prstGeom prst="rect">
            <a:avLst/>
          </a:prstGeom>
          <a:noFill/>
          <a:ln/>
        </p:spPr>
        <p:txBody>
          <a:bodyPr wrap="square" lIns="0" tIns="0" rIns="0" bIns="0" rtlCol="0" anchor="ctr"/>
          <a:lstStyle/>
          <a:p>
            <a:pPr marL="0" indent="0">
              <a:lnSpc>
                <a:spcPts val="1900"/>
              </a:lnSpc>
              <a:buNone/>
            </a:pPr>
            <a:r>
              <a:rPr lang="en-US" sz="1400" dirty="0">
                <a:solidFill>
                  <a:srgbClr val="4F5D75"/>
                </a:solidFill>
                <a:latin typeface="Segoe UI" pitchFamily="34" charset="0"/>
                <a:ea typeface="Segoe UI" pitchFamily="34" charset="-122"/>
                <a:cs typeface="Segoe UI" pitchFamily="34" charset="-120"/>
              </a:rPr>
              <a:t>Listens in the group chat, then researches real destinations — Google Places, routes, reviews, and the open web.</a:t>
            </a:r>
            <a:endParaRPr lang="en-US" sz="1400" dirty="0"/>
          </a:p>
        </p:txBody>
      </p:sp>
      <p:sp>
        <p:nvSpPr>
          <p:cNvPr id="9" name="Shape 7"/>
          <p:cNvSpPr/>
          <p:nvPr/>
        </p:nvSpPr>
        <p:spPr>
          <a:xfrm>
            <a:off x="548640" y="3941064"/>
            <a:ext cx="11091672" cy="0"/>
          </a:xfrm>
          <a:prstGeom prst="line">
            <a:avLst/>
          </a:prstGeom>
          <a:noFill/>
          <a:ln w="12700">
            <a:solidFill>
              <a:srgbClr val="D9D9DE"/>
            </a:solidFill>
            <a:prstDash val="solid"/>
          </a:ln>
        </p:spPr>
        <p:txBody>
          <a:bodyPr/>
          <a:lstStyle/>
          <a:p>
            <a:endParaRPr/>
          </a:p>
        </p:txBody>
      </p:sp>
      <p:sp>
        <p:nvSpPr>
          <p:cNvPr id="10" name="Text 8"/>
          <p:cNvSpPr/>
          <p:nvPr/>
        </p:nvSpPr>
        <p:spPr>
          <a:xfrm>
            <a:off x="548640" y="4087368"/>
            <a:ext cx="1005840" cy="777240"/>
          </a:xfrm>
          <a:prstGeom prst="rect">
            <a:avLst/>
          </a:prstGeom>
          <a:noFill/>
          <a:ln/>
        </p:spPr>
        <p:txBody>
          <a:bodyPr wrap="square" lIns="0" tIns="0" rIns="0" bIns="0" rtlCol="0" anchor="ctr"/>
          <a:lstStyle/>
          <a:p>
            <a:pPr marL="0" indent="0">
              <a:buNone/>
            </a:pPr>
            <a:r>
              <a:rPr lang="en-US" sz="4000" dirty="0">
                <a:solidFill>
                  <a:srgbClr val="2D3142"/>
                </a:solidFill>
                <a:latin typeface="Georgia" pitchFamily="34" charset="0"/>
                <a:ea typeface="Georgia" pitchFamily="34" charset="-122"/>
                <a:cs typeface="Georgia" pitchFamily="34" charset="-120"/>
              </a:rPr>
              <a:t>02</a:t>
            </a:r>
            <a:endParaRPr lang="en-US" sz="4000" dirty="0"/>
          </a:p>
        </p:txBody>
      </p:sp>
      <p:sp>
        <p:nvSpPr>
          <p:cNvPr id="11" name="Text 9"/>
          <p:cNvSpPr/>
          <p:nvPr/>
        </p:nvSpPr>
        <p:spPr>
          <a:xfrm>
            <a:off x="1737360" y="4160520"/>
            <a:ext cx="2011680" cy="320040"/>
          </a:xfrm>
          <a:prstGeom prst="rect">
            <a:avLst/>
          </a:prstGeom>
          <a:noFill/>
          <a:ln/>
        </p:spPr>
        <p:txBody>
          <a:bodyPr wrap="square" lIns="0" tIns="0" rIns="0" bIns="0" rtlCol="0" anchor="ctr"/>
          <a:lstStyle/>
          <a:p>
            <a:pPr marL="0" indent="0">
              <a:buNone/>
            </a:pPr>
            <a:r>
              <a:rPr lang="en-US" sz="1500" b="1" kern="0" spc="200" dirty="0">
                <a:solidFill>
                  <a:srgbClr val="2D3142"/>
                </a:solidFill>
                <a:latin typeface="Segoe UI" pitchFamily="34" charset="0"/>
                <a:ea typeface="Segoe UI" pitchFamily="34" charset="-122"/>
                <a:cs typeface="Segoe UI" pitchFamily="34" charset="-120"/>
              </a:rPr>
              <a:t>PROPOSE</a:t>
            </a:r>
            <a:endParaRPr lang="en-US" sz="1500" dirty="0"/>
          </a:p>
        </p:txBody>
      </p:sp>
      <p:sp>
        <p:nvSpPr>
          <p:cNvPr id="12" name="Text 10"/>
          <p:cNvSpPr/>
          <p:nvPr/>
        </p:nvSpPr>
        <p:spPr>
          <a:xfrm>
            <a:off x="3840480" y="4105656"/>
            <a:ext cx="7772400" cy="868680"/>
          </a:xfrm>
          <a:prstGeom prst="rect">
            <a:avLst/>
          </a:prstGeom>
          <a:noFill/>
          <a:ln/>
        </p:spPr>
        <p:txBody>
          <a:bodyPr wrap="square" lIns="0" tIns="0" rIns="0" bIns="0" rtlCol="0" anchor="ctr"/>
          <a:lstStyle/>
          <a:p>
            <a:pPr marL="0" indent="0">
              <a:lnSpc>
                <a:spcPts val="1900"/>
              </a:lnSpc>
              <a:buNone/>
            </a:pPr>
            <a:r>
              <a:rPr lang="en-US" sz="1400" dirty="0">
                <a:solidFill>
                  <a:srgbClr val="4F5D75"/>
                </a:solidFill>
                <a:latin typeface="Segoe UI" pitchFamily="34" charset="0"/>
                <a:ea typeface="Segoe UI" pitchFamily="34" charset="-122"/>
                <a:cs typeface="Segoe UI" pitchFamily="34" charset="-120"/>
              </a:rPr>
              <a:t>Turns debate into structured proposals: why it matters, what changes, and the impact — scored for this specific group.</a:t>
            </a:r>
            <a:endParaRPr lang="en-US" sz="1400" dirty="0"/>
          </a:p>
        </p:txBody>
      </p:sp>
      <p:sp>
        <p:nvSpPr>
          <p:cNvPr id="13" name="Shape 11"/>
          <p:cNvSpPr/>
          <p:nvPr/>
        </p:nvSpPr>
        <p:spPr>
          <a:xfrm>
            <a:off x="548640" y="5148072"/>
            <a:ext cx="11091672" cy="0"/>
          </a:xfrm>
          <a:prstGeom prst="line">
            <a:avLst/>
          </a:prstGeom>
          <a:noFill/>
          <a:ln w="12700">
            <a:solidFill>
              <a:srgbClr val="D9D9DE"/>
            </a:solidFill>
            <a:prstDash val="solid"/>
          </a:ln>
        </p:spPr>
        <p:txBody>
          <a:bodyPr/>
          <a:lstStyle/>
          <a:p>
            <a:endParaRPr/>
          </a:p>
        </p:txBody>
      </p:sp>
      <p:sp>
        <p:nvSpPr>
          <p:cNvPr id="14" name="Text 12"/>
          <p:cNvSpPr/>
          <p:nvPr/>
        </p:nvSpPr>
        <p:spPr>
          <a:xfrm>
            <a:off x="548640" y="5294376"/>
            <a:ext cx="1005840" cy="777240"/>
          </a:xfrm>
          <a:prstGeom prst="rect">
            <a:avLst/>
          </a:prstGeom>
          <a:noFill/>
          <a:ln/>
        </p:spPr>
        <p:txBody>
          <a:bodyPr wrap="square" lIns="0" tIns="0" rIns="0" bIns="0" rtlCol="0" anchor="ctr"/>
          <a:lstStyle/>
          <a:p>
            <a:pPr marL="0" indent="0">
              <a:buNone/>
            </a:pPr>
            <a:r>
              <a:rPr lang="en-US" sz="4000" dirty="0">
                <a:solidFill>
                  <a:srgbClr val="2D3142"/>
                </a:solidFill>
                <a:latin typeface="Georgia" pitchFamily="34" charset="0"/>
                <a:ea typeface="Georgia" pitchFamily="34" charset="-122"/>
                <a:cs typeface="Georgia" pitchFamily="34" charset="-120"/>
              </a:rPr>
              <a:t>03</a:t>
            </a:r>
            <a:endParaRPr lang="en-US" sz="4000" dirty="0"/>
          </a:p>
        </p:txBody>
      </p:sp>
      <p:sp>
        <p:nvSpPr>
          <p:cNvPr id="15" name="Text 13"/>
          <p:cNvSpPr/>
          <p:nvPr/>
        </p:nvSpPr>
        <p:spPr>
          <a:xfrm>
            <a:off x="1737360" y="5367528"/>
            <a:ext cx="2011680" cy="320040"/>
          </a:xfrm>
          <a:prstGeom prst="rect">
            <a:avLst/>
          </a:prstGeom>
          <a:noFill/>
          <a:ln/>
        </p:spPr>
        <p:txBody>
          <a:bodyPr wrap="square" lIns="0" tIns="0" rIns="0" bIns="0" rtlCol="0" anchor="ctr"/>
          <a:lstStyle/>
          <a:p>
            <a:pPr marL="0" indent="0">
              <a:buNone/>
            </a:pPr>
            <a:r>
              <a:rPr lang="en-US" sz="1500" b="1" kern="0" spc="200" dirty="0">
                <a:solidFill>
                  <a:srgbClr val="2D3142"/>
                </a:solidFill>
                <a:latin typeface="Segoe UI" pitchFamily="34" charset="0"/>
                <a:ea typeface="Segoe UI" pitchFamily="34" charset="-122"/>
                <a:cs typeface="Segoe UI" pitchFamily="34" charset="-120"/>
              </a:rPr>
              <a:t>REPLAN</a:t>
            </a:r>
            <a:endParaRPr lang="en-US" sz="1500" dirty="0"/>
          </a:p>
        </p:txBody>
      </p:sp>
      <p:sp>
        <p:nvSpPr>
          <p:cNvPr id="16" name="Text 14"/>
          <p:cNvSpPr/>
          <p:nvPr/>
        </p:nvSpPr>
        <p:spPr>
          <a:xfrm>
            <a:off x="3840480" y="5312664"/>
            <a:ext cx="7772400" cy="868680"/>
          </a:xfrm>
          <a:prstGeom prst="rect">
            <a:avLst/>
          </a:prstGeom>
          <a:noFill/>
          <a:ln/>
        </p:spPr>
        <p:txBody>
          <a:bodyPr wrap="square" lIns="0" tIns="0" rIns="0" bIns="0" rtlCol="0" anchor="ctr"/>
          <a:lstStyle/>
          <a:p>
            <a:pPr marL="0" indent="0">
              <a:lnSpc>
                <a:spcPts val="1900"/>
              </a:lnSpc>
              <a:buNone/>
            </a:pPr>
            <a:r>
              <a:rPr lang="en-US" sz="1400" dirty="0">
                <a:solidFill>
                  <a:srgbClr val="4F5D75"/>
                </a:solidFill>
                <a:latin typeface="Segoe UI" pitchFamily="34" charset="0"/>
                <a:ea typeface="Segoe UI" pitchFamily="34" charset="-122"/>
                <a:cs typeface="Segoe UI" pitchFamily="34" charset="-120"/>
              </a:rPr>
              <a:t>Watches weather and delays, detects every affected activity, and proposes backups through the same vote loop.</a:t>
            </a:r>
            <a:endParaRPr lang="en-US" sz="1400" dirty="0"/>
          </a:p>
        </p:txBody>
      </p:sp>
      <p:sp>
        <p:nvSpPr>
          <p:cNvPr id="17" name="Text 15"/>
          <p:cNvSpPr/>
          <p:nvPr/>
        </p:nvSpPr>
        <p:spPr>
          <a:xfrm>
            <a:off x="11274552" y="6382512"/>
            <a:ext cx="457200" cy="274320"/>
          </a:xfrm>
          <a:prstGeom prst="rect">
            <a:avLst/>
          </a:prstGeom>
          <a:noFill/>
          <a:ln/>
        </p:spPr>
        <p:txBody>
          <a:bodyPr wrap="square" lIns="0" tIns="0" rIns="0" bIns="0" rtlCol="0" anchor="ctr"/>
          <a:lstStyle/>
          <a:p>
            <a:pPr marL="0" indent="0" algn="r">
              <a:buNone/>
            </a:pPr>
            <a:r>
              <a:rPr lang="en-US" sz="1200" dirty="0">
                <a:solidFill>
                  <a:srgbClr val="7A8399"/>
                </a:solidFill>
                <a:latin typeface="Segoe UI" pitchFamily="34" charset="0"/>
                <a:ea typeface="Segoe UI" pitchFamily="34" charset="-122"/>
                <a:cs typeface="Segoe UI"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548640" y="475488"/>
            <a:ext cx="8229600" cy="292608"/>
          </a:xfrm>
          <a:prstGeom prst="rect">
            <a:avLst/>
          </a:prstGeom>
          <a:noFill/>
          <a:ln/>
        </p:spPr>
        <p:txBody>
          <a:bodyPr wrap="square" lIns="0" tIns="0" rIns="0" bIns="0" rtlCol="0" anchor="ctr"/>
          <a:lstStyle/>
          <a:p>
            <a:pPr marL="0" indent="0">
              <a:buNone/>
            </a:pPr>
            <a:r>
              <a:rPr lang="en-US" sz="1200" b="1" kern="0" spc="400" dirty="0">
                <a:solidFill>
                  <a:srgbClr val="4F5D75"/>
                </a:solidFill>
                <a:latin typeface="Segoe UI" pitchFamily="34" charset="0"/>
                <a:ea typeface="Segoe UI" pitchFamily="34" charset="-122"/>
                <a:cs typeface="Segoe UI" pitchFamily="34" charset="-120"/>
              </a:rPr>
              <a:t>WHAT'S DIFFERENT</a:t>
            </a:r>
            <a:endParaRPr lang="en-US" sz="1200" dirty="0"/>
          </a:p>
        </p:txBody>
      </p:sp>
      <p:sp>
        <p:nvSpPr>
          <p:cNvPr id="3" name="Text 1"/>
          <p:cNvSpPr/>
          <p:nvPr/>
        </p:nvSpPr>
        <p:spPr>
          <a:xfrm>
            <a:off x="548640" y="841248"/>
            <a:ext cx="11091672" cy="914400"/>
          </a:xfrm>
          <a:prstGeom prst="rect">
            <a:avLst/>
          </a:prstGeom>
          <a:noFill/>
          <a:ln/>
        </p:spPr>
        <p:txBody>
          <a:bodyPr wrap="square" lIns="0" tIns="0" rIns="0" bIns="0" rtlCol="0" anchor="ctr"/>
          <a:lstStyle/>
          <a:p>
            <a:pPr marL="0" indent="0">
              <a:buNone/>
            </a:pPr>
            <a:r>
              <a:rPr lang="en-US" sz="2800" dirty="0">
                <a:solidFill>
                  <a:srgbClr val="2D3142"/>
                </a:solidFill>
                <a:latin typeface="Georgia" pitchFamily="34" charset="0"/>
                <a:ea typeface="Georgia" pitchFamily="34" charset="-122"/>
                <a:cs typeface="Georgia" pitchFamily="34" charset="-120"/>
              </a:rPr>
              <a:t>The AI proposes. The group decides. Every change is versioned.</a:t>
            </a:r>
            <a:endParaRPr lang="en-US" sz="2800" dirty="0"/>
          </a:p>
        </p:txBody>
      </p:sp>
      <p:pic>
        <p:nvPicPr>
          <p:cNvPr id="4" name="Image 0" descr="C:/Users/weixu/Tripify/docs/diagrams/decision-loop.png"/>
          <p:cNvPicPr>
            <a:picLocks noChangeAspect="1"/>
          </p:cNvPicPr>
          <p:nvPr/>
        </p:nvPicPr>
        <p:blipFill>
          <a:blip r:embed="rId3"/>
          <a:stretch>
            <a:fillRect/>
          </a:stretch>
        </p:blipFill>
        <p:spPr>
          <a:xfrm>
            <a:off x="548640" y="2011680"/>
            <a:ext cx="6309360" cy="4123944"/>
          </a:xfrm>
          <a:prstGeom prst="rect">
            <a:avLst/>
          </a:prstGeom>
        </p:spPr>
      </p:pic>
      <p:sp>
        <p:nvSpPr>
          <p:cNvPr id="5" name="Shape 2"/>
          <p:cNvSpPr/>
          <p:nvPr/>
        </p:nvSpPr>
        <p:spPr>
          <a:xfrm>
            <a:off x="7269480" y="2295144"/>
            <a:ext cx="128016" cy="128016"/>
          </a:xfrm>
          <a:prstGeom prst="rect">
            <a:avLst/>
          </a:prstGeom>
          <a:solidFill>
            <a:srgbClr val="EB6C36"/>
          </a:solidFill>
          <a:ln/>
        </p:spPr>
        <p:txBody>
          <a:bodyPr/>
          <a:lstStyle/>
          <a:p>
            <a:endParaRPr/>
          </a:p>
        </p:txBody>
      </p:sp>
      <p:sp>
        <p:nvSpPr>
          <p:cNvPr id="6" name="Text 3"/>
          <p:cNvSpPr/>
          <p:nvPr/>
        </p:nvSpPr>
        <p:spPr>
          <a:xfrm>
            <a:off x="7543800" y="2240280"/>
            <a:ext cx="4023360" cy="292608"/>
          </a:xfrm>
          <a:prstGeom prst="rect">
            <a:avLst/>
          </a:prstGeom>
          <a:noFill/>
          <a:ln/>
        </p:spPr>
        <p:txBody>
          <a:bodyPr wrap="square" lIns="0" tIns="0" rIns="0" bIns="0" rtlCol="0" anchor="ctr"/>
          <a:lstStyle/>
          <a:p>
            <a:pPr marL="0" indent="0">
              <a:buNone/>
            </a:pPr>
            <a:r>
              <a:rPr lang="en-US" sz="1400" b="1" kern="0" spc="100" dirty="0">
                <a:solidFill>
                  <a:srgbClr val="2D3142"/>
                </a:solidFill>
                <a:latin typeface="Segoe UI" pitchFamily="34" charset="0"/>
                <a:ea typeface="Segoe UI" pitchFamily="34" charset="-122"/>
                <a:cs typeface="Segoe UI" pitchFamily="34" charset="-120"/>
              </a:rPr>
              <a:t>PROPOSAL ≠ CHANGE</a:t>
            </a:r>
            <a:endParaRPr lang="en-US" sz="1400" dirty="0"/>
          </a:p>
        </p:txBody>
      </p:sp>
      <p:sp>
        <p:nvSpPr>
          <p:cNvPr id="7" name="Text 4"/>
          <p:cNvSpPr/>
          <p:nvPr/>
        </p:nvSpPr>
        <p:spPr>
          <a:xfrm>
            <a:off x="7543800" y="2569464"/>
            <a:ext cx="4069080" cy="868680"/>
          </a:xfrm>
          <a:prstGeom prst="rect">
            <a:avLst/>
          </a:prstGeom>
          <a:noFill/>
          <a:ln/>
        </p:spPr>
        <p:txBody>
          <a:bodyPr wrap="square" lIns="0" tIns="0" rIns="0" bIns="0" rtlCol="0" anchor="ctr"/>
          <a:lstStyle/>
          <a:p>
            <a:pPr marL="0" indent="0">
              <a:lnSpc>
                <a:spcPts val="1800"/>
              </a:lnSpc>
              <a:buNone/>
            </a:pPr>
            <a:r>
              <a:rPr lang="en-US" sz="1300" dirty="0">
                <a:solidFill>
                  <a:srgbClr val="4F5D75"/>
                </a:solidFill>
                <a:latin typeface="Segoe UI" pitchFamily="34" charset="0"/>
                <a:ea typeface="Segoe UI" pitchFamily="34" charset="-122"/>
                <a:cs typeface="Segoe UI" pitchFamily="34" charset="-120"/>
              </a:rPr>
              <a:t>Nothing applies to the itinerary without a vote — the AI drives the process, never the outcome.</a:t>
            </a:r>
            <a:endParaRPr lang="en-US" sz="1300" dirty="0"/>
          </a:p>
        </p:txBody>
      </p:sp>
      <p:sp>
        <p:nvSpPr>
          <p:cNvPr id="8" name="Shape 5"/>
          <p:cNvSpPr/>
          <p:nvPr/>
        </p:nvSpPr>
        <p:spPr>
          <a:xfrm>
            <a:off x="7269480" y="3593592"/>
            <a:ext cx="128016" cy="128016"/>
          </a:xfrm>
          <a:prstGeom prst="rect">
            <a:avLst/>
          </a:prstGeom>
          <a:solidFill>
            <a:srgbClr val="EB6C36"/>
          </a:solidFill>
          <a:ln/>
        </p:spPr>
        <p:txBody>
          <a:bodyPr/>
          <a:lstStyle/>
          <a:p>
            <a:endParaRPr/>
          </a:p>
        </p:txBody>
      </p:sp>
      <p:sp>
        <p:nvSpPr>
          <p:cNvPr id="9" name="Text 6"/>
          <p:cNvSpPr/>
          <p:nvPr/>
        </p:nvSpPr>
        <p:spPr>
          <a:xfrm>
            <a:off x="7543800" y="3538728"/>
            <a:ext cx="4023360" cy="292608"/>
          </a:xfrm>
          <a:prstGeom prst="rect">
            <a:avLst/>
          </a:prstGeom>
          <a:noFill/>
          <a:ln/>
        </p:spPr>
        <p:txBody>
          <a:bodyPr wrap="square" lIns="0" tIns="0" rIns="0" bIns="0" rtlCol="0" anchor="ctr"/>
          <a:lstStyle/>
          <a:p>
            <a:pPr marL="0" indent="0">
              <a:buNone/>
            </a:pPr>
            <a:r>
              <a:rPr lang="en-US" sz="1400" b="1" kern="0" spc="100" dirty="0">
                <a:solidFill>
                  <a:srgbClr val="2D3142"/>
                </a:solidFill>
                <a:latin typeface="Segoe UI" pitchFamily="34" charset="0"/>
                <a:ea typeface="Segoe UI" pitchFamily="34" charset="-122"/>
                <a:cs typeface="Segoe UI" pitchFamily="34" charset="-120"/>
              </a:rPr>
              <a:t>VERSION CONTROL</a:t>
            </a:r>
            <a:endParaRPr lang="en-US" sz="1400" dirty="0"/>
          </a:p>
        </p:txBody>
      </p:sp>
      <p:sp>
        <p:nvSpPr>
          <p:cNvPr id="10" name="Text 7"/>
          <p:cNvSpPr/>
          <p:nvPr/>
        </p:nvSpPr>
        <p:spPr>
          <a:xfrm>
            <a:off x="7543800" y="3867912"/>
            <a:ext cx="4069080" cy="868680"/>
          </a:xfrm>
          <a:prstGeom prst="rect">
            <a:avLst/>
          </a:prstGeom>
          <a:noFill/>
          <a:ln/>
        </p:spPr>
        <p:txBody>
          <a:bodyPr wrap="square" lIns="0" tIns="0" rIns="0" bIns="0" rtlCol="0" anchor="ctr"/>
          <a:lstStyle/>
          <a:p>
            <a:pPr marL="0" indent="0">
              <a:lnSpc>
                <a:spcPts val="1800"/>
              </a:lnSpc>
              <a:buNone/>
            </a:pPr>
            <a:r>
              <a:rPr lang="en-US" sz="1300" dirty="0">
                <a:solidFill>
                  <a:srgbClr val="4F5D75"/>
                </a:solidFill>
                <a:latin typeface="Segoe UI" pitchFamily="34" charset="0"/>
                <a:ea typeface="Segoe UI" pitchFamily="34" charset="-122"/>
                <a:cs typeface="Segoe UI" pitchFamily="34" charset="-120"/>
              </a:rPr>
              <a:t>Every approved proposal bumps the itinerary to a new version. Stale AI decisions are structurally impossible.</a:t>
            </a:r>
            <a:endParaRPr lang="en-US" sz="1300" dirty="0"/>
          </a:p>
        </p:txBody>
      </p:sp>
      <p:sp>
        <p:nvSpPr>
          <p:cNvPr id="11" name="Shape 8"/>
          <p:cNvSpPr/>
          <p:nvPr/>
        </p:nvSpPr>
        <p:spPr>
          <a:xfrm>
            <a:off x="7269480" y="4892040"/>
            <a:ext cx="128016" cy="128016"/>
          </a:xfrm>
          <a:prstGeom prst="rect">
            <a:avLst/>
          </a:prstGeom>
          <a:solidFill>
            <a:srgbClr val="EB6C36"/>
          </a:solidFill>
          <a:ln/>
        </p:spPr>
        <p:txBody>
          <a:bodyPr/>
          <a:lstStyle/>
          <a:p>
            <a:endParaRPr/>
          </a:p>
        </p:txBody>
      </p:sp>
      <p:sp>
        <p:nvSpPr>
          <p:cNvPr id="12" name="Text 9"/>
          <p:cNvSpPr/>
          <p:nvPr/>
        </p:nvSpPr>
        <p:spPr>
          <a:xfrm>
            <a:off x="7543800" y="4837176"/>
            <a:ext cx="4023360" cy="292608"/>
          </a:xfrm>
          <a:prstGeom prst="rect">
            <a:avLst/>
          </a:prstGeom>
          <a:noFill/>
          <a:ln/>
        </p:spPr>
        <p:txBody>
          <a:bodyPr wrap="square" lIns="0" tIns="0" rIns="0" bIns="0" rtlCol="0" anchor="ctr"/>
          <a:lstStyle/>
          <a:p>
            <a:pPr marL="0" indent="0">
              <a:buNone/>
            </a:pPr>
            <a:r>
              <a:rPr lang="en-US" sz="1400" b="1" kern="0" spc="100" dirty="0">
                <a:solidFill>
                  <a:srgbClr val="2D3142"/>
                </a:solidFill>
                <a:latin typeface="Segoe UI" pitchFamily="34" charset="0"/>
                <a:ea typeface="Segoe UI" pitchFamily="34" charset="-122"/>
                <a:cs typeface="Segoe UI" pitchFamily="34" charset="-120"/>
              </a:rPr>
              <a:t>DECISION INTELLIGENCE</a:t>
            </a:r>
            <a:endParaRPr lang="en-US" sz="1400" dirty="0"/>
          </a:p>
        </p:txBody>
      </p:sp>
      <p:sp>
        <p:nvSpPr>
          <p:cNvPr id="13" name="Text 10"/>
          <p:cNvSpPr/>
          <p:nvPr/>
        </p:nvSpPr>
        <p:spPr>
          <a:xfrm>
            <a:off x="7543800" y="5166360"/>
            <a:ext cx="4069080" cy="868680"/>
          </a:xfrm>
          <a:prstGeom prst="rect">
            <a:avLst/>
          </a:prstGeom>
          <a:noFill/>
          <a:ln/>
        </p:spPr>
        <p:txBody>
          <a:bodyPr wrap="square" lIns="0" tIns="0" rIns="0" bIns="0" rtlCol="0" anchor="ctr"/>
          <a:lstStyle/>
          <a:p>
            <a:pPr marL="0" indent="0">
              <a:lnSpc>
                <a:spcPts val="1800"/>
              </a:lnSpc>
              <a:buNone/>
            </a:pPr>
            <a:r>
              <a:rPr lang="en-US" sz="1300" dirty="0">
                <a:solidFill>
                  <a:srgbClr val="4F5D75"/>
                </a:solidFill>
                <a:latin typeface="Segoe UI" pitchFamily="34" charset="0"/>
                <a:ea typeface="Segoe UI" pitchFamily="34" charset="-122"/>
                <a:cs typeface="Segoe UI" pitchFamily="34" charset="-120"/>
              </a:rPr>
              <a:t>A rejected proposal is analysed: the AI reads the objections and returns with a compromise.</a:t>
            </a:r>
            <a:endParaRPr lang="en-US" sz="1300" dirty="0"/>
          </a:p>
        </p:txBody>
      </p:sp>
      <p:sp>
        <p:nvSpPr>
          <p:cNvPr id="14" name="Text 11"/>
          <p:cNvSpPr/>
          <p:nvPr/>
        </p:nvSpPr>
        <p:spPr>
          <a:xfrm>
            <a:off x="11274552" y="6382512"/>
            <a:ext cx="457200" cy="274320"/>
          </a:xfrm>
          <a:prstGeom prst="rect">
            <a:avLst/>
          </a:prstGeom>
          <a:noFill/>
          <a:ln/>
        </p:spPr>
        <p:txBody>
          <a:bodyPr wrap="square" lIns="0" tIns="0" rIns="0" bIns="0" rtlCol="0" anchor="ctr"/>
          <a:lstStyle/>
          <a:p>
            <a:pPr marL="0" indent="0" algn="r">
              <a:buNone/>
            </a:pPr>
            <a:r>
              <a:rPr lang="en-US" sz="1200" dirty="0">
                <a:solidFill>
                  <a:srgbClr val="7A8399"/>
                </a:solidFill>
                <a:latin typeface="Segoe UI" pitchFamily="34" charset="0"/>
                <a:ea typeface="Segoe UI" pitchFamily="34" charset="-122"/>
                <a:cs typeface="Segoe UI"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548640" y="475488"/>
            <a:ext cx="8229600" cy="292608"/>
          </a:xfrm>
          <a:prstGeom prst="rect">
            <a:avLst/>
          </a:prstGeom>
          <a:noFill/>
          <a:ln/>
        </p:spPr>
        <p:txBody>
          <a:bodyPr wrap="square" lIns="0" tIns="0" rIns="0" bIns="0" rtlCol="0" anchor="ctr"/>
          <a:lstStyle/>
          <a:p>
            <a:pPr marL="0" indent="0">
              <a:buNone/>
            </a:pPr>
            <a:r>
              <a:rPr lang="en-US" sz="1200" b="1" kern="0" spc="400" dirty="0">
                <a:solidFill>
                  <a:srgbClr val="4F5D75"/>
                </a:solidFill>
                <a:latin typeface="Segoe UI" pitchFamily="34" charset="0"/>
                <a:ea typeface="Segoe UI" pitchFamily="34" charset="-122"/>
                <a:cs typeface="Segoe UI" pitchFamily="34" charset="-120"/>
              </a:rPr>
              <a:t>THE GAP</a:t>
            </a:r>
            <a:endParaRPr lang="en-US" sz="1200" dirty="0"/>
          </a:p>
        </p:txBody>
      </p:sp>
      <p:sp>
        <p:nvSpPr>
          <p:cNvPr id="3" name="Text 1"/>
          <p:cNvSpPr/>
          <p:nvPr/>
        </p:nvSpPr>
        <p:spPr>
          <a:xfrm>
            <a:off x="548640" y="841248"/>
            <a:ext cx="11091672" cy="914400"/>
          </a:xfrm>
          <a:prstGeom prst="rect">
            <a:avLst/>
          </a:prstGeom>
          <a:noFill/>
          <a:ln/>
        </p:spPr>
        <p:txBody>
          <a:bodyPr wrap="square" lIns="0" tIns="0" rIns="0" bIns="0" rtlCol="0" anchor="ctr"/>
          <a:lstStyle/>
          <a:p>
            <a:pPr marL="0" indent="0">
              <a:buNone/>
            </a:pPr>
            <a:r>
              <a:rPr lang="en-US" sz="2800" dirty="0">
                <a:solidFill>
                  <a:srgbClr val="2D3142"/>
                </a:solidFill>
                <a:latin typeface="Georgia" pitchFamily="34" charset="0"/>
                <a:ea typeface="Georgia" pitchFamily="34" charset="-122"/>
                <a:cs typeface="Georgia" pitchFamily="34" charset="-120"/>
              </a:rPr>
              <a:t>No existing tool treats the group decision as the product</a:t>
            </a:r>
            <a:endParaRPr lang="en-US" sz="2800" dirty="0"/>
          </a:p>
        </p:txBody>
      </p:sp>
      <p:pic>
        <p:nvPicPr>
          <p:cNvPr id="4" name="Image 0" descr="C:/Users/weixu/Tripify/docs/diagrams/competitor-radar.png"/>
          <p:cNvPicPr>
            <a:picLocks noChangeAspect="1"/>
          </p:cNvPicPr>
          <p:nvPr/>
        </p:nvPicPr>
        <p:blipFill>
          <a:blip r:embed="rId3"/>
          <a:stretch>
            <a:fillRect/>
          </a:stretch>
        </p:blipFill>
        <p:spPr>
          <a:xfrm>
            <a:off x="548640" y="2148840"/>
            <a:ext cx="6583680" cy="3291840"/>
          </a:xfrm>
          <a:prstGeom prst="rect">
            <a:avLst/>
          </a:prstGeom>
        </p:spPr>
      </p:pic>
      <p:sp>
        <p:nvSpPr>
          <p:cNvPr id="5" name="Text 2"/>
          <p:cNvSpPr/>
          <p:nvPr/>
        </p:nvSpPr>
        <p:spPr>
          <a:xfrm>
            <a:off x="548640" y="5532120"/>
            <a:ext cx="6583680" cy="274320"/>
          </a:xfrm>
          <a:prstGeom prst="rect">
            <a:avLst/>
          </a:prstGeom>
          <a:noFill/>
          <a:ln/>
        </p:spPr>
        <p:txBody>
          <a:bodyPr wrap="square" lIns="0" tIns="0" rIns="0" bIns="0" rtlCol="0" anchor="ctr"/>
          <a:lstStyle/>
          <a:p>
            <a:pPr marL="0" indent="0" algn="ctr">
              <a:buNone/>
            </a:pPr>
            <a:r>
              <a:rPr lang="en-US" sz="1200" dirty="0">
                <a:solidFill>
                  <a:srgbClr val="7A8399"/>
                </a:solidFill>
                <a:latin typeface="Segoe UI" pitchFamily="34" charset="0"/>
                <a:ea typeface="Segoe UI" pitchFamily="34" charset="-122"/>
                <a:cs typeface="Segoe UI" pitchFamily="34" charset="-120"/>
              </a:rPr>
              <a:t>Team scoring across five capabilities (0–10) — Team analysis of existing tools</a:t>
            </a:r>
            <a:endParaRPr lang="en-US" sz="1200" dirty="0"/>
          </a:p>
        </p:txBody>
      </p:sp>
      <p:sp>
        <p:nvSpPr>
          <p:cNvPr id="6" name="Shape 3"/>
          <p:cNvSpPr/>
          <p:nvPr/>
        </p:nvSpPr>
        <p:spPr>
          <a:xfrm>
            <a:off x="7543800" y="2157984"/>
            <a:ext cx="4096512" cy="0"/>
          </a:xfrm>
          <a:prstGeom prst="line">
            <a:avLst/>
          </a:prstGeom>
          <a:noFill/>
          <a:ln w="12700">
            <a:solidFill>
              <a:srgbClr val="D9D9DE"/>
            </a:solidFill>
            <a:prstDash val="solid"/>
          </a:ln>
        </p:spPr>
        <p:txBody>
          <a:bodyPr/>
          <a:lstStyle/>
          <a:p>
            <a:endParaRPr/>
          </a:p>
        </p:txBody>
      </p:sp>
      <p:sp>
        <p:nvSpPr>
          <p:cNvPr id="7" name="Text 4"/>
          <p:cNvSpPr/>
          <p:nvPr/>
        </p:nvSpPr>
        <p:spPr>
          <a:xfrm>
            <a:off x="7543800" y="2286000"/>
            <a:ext cx="4096512" cy="292608"/>
          </a:xfrm>
          <a:prstGeom prst="rect">
            <a:avLst/>
          </a:prstGeom>
          <a:noFill/>
          <a:ln/>
        </p:spPr>
        <p:txBody>
          <a:bodyPr wrap="square" lIns="0" tIns="0" rIns="0" bIns="0" rtlCol="0" anchor="ctr"/>
          <a:lstStyle/>
          <a:p>
            <a:pPr marL="0" indent="0">
              <a:buNone/>
            </a:pPr>
            <a:r>
              <a:rPr lang="en-US" sz="1500" b="1" dirty="0">
                <a:solidFill>
                  <a:srgbClr val="2D3142"/>
                </a:solidFill>
                <a:latin typeface="Segoe UI" pitchFamily="34" charset="0"/>
                <a:ea typeface="Segoe UI" pitchFamily="34" charset="-122"/>
                <a:cs typeface="Segoe UI" pitchFamily="34" charset="-120"/>
              </a:rPr>
              <a:t>Proposal &amp; vote layer</a:t>
            </a:r>
            <a:endParaRPr lang="en-US" sz="1500" dirty="0"/>
          </a:p>
        </p:txBody>
      </p:sp>
      <p:sp>
        <p:nvSpPr>
          <p:cNvPr id="8" name="Text 5"/>
          <p:cNvSpPr/>
          <p:nvPr/>
        </p:nvSpPr>
        <p:spPr>
          <a:xfrm>
            <a:off x="7543800" y="2615184"/>
            <a:ext cx="4096512" cy="731520"/>
          </a:xfrm>
          <a:prstGeom prst="rect">
            <a:avLst/>
          </a:prstGeom>
          <a:noFill/>
          <a:ln/>
        </p:spPr>
        <p:txBody>
          <a:bodyPr wrap="square" lIns="0" tIns="0" rIns="0" bIns="0" rtlCol="0" anchor="ctr"/>
          <a:lstStyle/>
          <a:p>
            <a:pPr marL="0" indent="0">
              <a:lnSpc>
                <a:spcPts val="1800"/>
              </a:lnSpc>
              <a:buNone/>
            </a:pPr>
            <a:r>
              <a:rPr lang="en-US" sz="1300" dirty="0">
                <a:solidFill>
                  <a:srgbClr val="4F5D75"/>
                </a:solidFill>
                <a:latin typeface="Segoe UI" pitchFamily="34" charset="0"/>
                <a:ea typeface="Segoe UI" pitchFamily="34" charset="-122"/>
                <a:cs typeface="Segoe UI" pitchFamily="34" charset="-120"/>
              </a:rPr>
              <a:t>Borrowed from Linear and GitHub PRs — no travel app has it.</a:t>
            </a:r>
            <a:endParaRPr lang="en-US" sz="1300" dirty="0"/>
          </a:p>
        </p:txBody>
      </p:sp>
      <p:sp>
        <p:nvSpPr>
          <p:cNvPr id="9" name="Shape 6"/>
          <p:cNvSpPr/>
          <p:nvPr/>
        </p:nvSpPr>
        <p:spPr>
          <a:xfrm>
            <a:off x="7543800" y="3392424"/>
            <a:ext cx="4096512" cy="0"/>
          </a:xfrm>
          <a:prstGeom prst="line">
            <a:avLst/>
          </a:prstGeom>
          <a:noFill/>
          <a:ln w="12700">
            <a:solidFill>
              <a:srgbClr val="D9D9DE"/>
            </a:solidFill>
            <a:prstDash val="solid"/>
          </a:ln>
        </p:spPr>
        <p:txBody>
          <a:bodyPr/>
          <a:lstStyle/>
          <a:p>
            <a:endParaRPr/>
          </a:p>
        </p:txBody>
      </p:sp>
      <p:sp>
        <p:nvSpPr>
          <p:cNvPr id="10" name="Text 7"/>
          <p:cNvSpPr/>
          <p:nvPr/>
        </p:nvSpPr>
        <p:spPr>
          <a:xfrm>
            <a:off x="7543800" y="3520440"/>
            <a:ext cx="4096512" cy="292608"/>
          </a:xfrm>
          <a:prstGeom prst="rect">
            <a:avLst/>
          </a:prstGeom>
          <a:noFill/>
          <a:ln/>
        </p:spPr>
        <p:txBody>
          <a:bodyPr wrap="square" lIns="0" tIns="0" rIns="0" bIns="0" rtlCol="0" anchor="ctr"/>
          <a:lstStyle/>
          <a:p>
            <a:pPr marL="0" indent="0">
              <a:buNone/>
            </a:pPr>
            <a:r>
              <a:rPr lang="en-US" sz="1500" b="1" dirty="0">
                <a:solidFill>
                  <a:srgbClr val="2D3142"/>
                </a:solidFill>
                <a:latin typeface="Segoe UI" pitchFamily="34" charset="0"/>
                <a:ea typeface="Segoe UI" pitchFamily="34" charset="-122"/>
                <a:cs typeface="Segoe UI" pitchFamily="34" charset="-120"/>
              </a:rPr>
              <a:t>Group-fit scoring</a:t>
            </a:r>
            <a:endParaRPr lang="en-US" sz="1500" dirty="0"/>
          </a:p>
        </p:txBody>
      </p:sp>
      <p:sp>
        <p:nvSpPr>
          <p:cNvPr id="11" name="Text 8"/>
          <p:cNvSpPr/>
          <p:nvPr/>
        </p:nvSpPr>
        <p:spPr>
          <a:xfrm>
            <a:off x="7543800" y="3849624"/>
            <a:ext cx="4096512" cy="731520"/>
          </a:xfrm>
          <a:prstGeom prst="rect">
            <a:avLst/>
          </a:prstGeom>
          <a:noFill/>
          <a:ln/>
        </p:spPr>
        <p:txBody>
          <a:bodyPr wrap="square" lIns="0" tIns="0" rIns="0" bIns="0" rtlCol="0" anchor="ctr"/>
          <a:lstStyle/>
          <a:p>
            <a:pPr marL="0" indent="0">
              <a:lnSpc>
                <a:spcPts val="1800"/>
              </a:lnSpc>
              <a:buNone/>
            </a:pPr>
            <a:r>
              <a:rPr lang="en-US" sz="1300" dirty="0">
                <a:solidFill>
                  <a:srgbClr val="4F5D75"/>
                </a:solidFill>
                <a:latin typeface="Segoe UI" pitchFamily="34" charset="0"/>
                <a:ea typeface="Segoe UI" pitchFamily="34" charset="-122"/>
                <a:cs typeface="Segoe UI" pitchFamily="34" charset="-120"/>
              </a:rPr>
              <a:t>“Is this good for OUR group?” — not generic popularity.</a:t>
            </a:r>
            <a:endParaRPr lang="en-US" sz="1300" dirty="0"/>
          </a:p>
        </p:txBody>
      </p:sp>
      <p:sp>
        <p:nvSpPr>
          <p:cNvPr id="12" name="Shape 9"/>
          <p:cNvSpPr/>
          <p:nvPr/>
        </p:nvSpPr>
        <p:spPr>
          <a:xfrm>
            <a:off x="7543800" y="4626864"/>
            <a:ext cx="4096512" cy="0"/>
          </a:xfrm>
          <a:prstGeom prst="line">
            <a:avLst/>
          </a:prstGeom>
          <a:noFill/>
          <a:ln w="12700">
            <a:solidFill>
              <a:srgbClr val="D9D9DE"/>
            </a:solidFill>
            <a:prstDash val="solid"/>
          </a:ln>
        </p:spPr>
        <p:txBody>
          <a:bodyPr/>
          <a:lstStyle/>
          <a:p>
            <a:endParaRPr/>
          </a:p>
        </p:txBody>
      </p:sp>
      <p:sp>
        <p:nvSpPr>
          <p:cNvPr id="13" name="Text 10"/>
          <p:cNvSpPr/>
          <p:nvPr/>
        </p:nvSpPr>
        <p:spPr>
          <a:xfrm>
            <a:off x="7543800" y="4754880"/>
            <a:ext cx="4096512" cy="292608"/>
          </a:xfrm>
          <a:prstGeom prst="rect">
            <a:avLst/>
          </a:prstGeom>
          <a:noFill/>
          <a:ln/>
        </p:spPr>
        <p:txBody>
          <a:bodyPr wrap="square" lIns="0" tIns="0" rIns="0" bIns="0" rtlCol="0" anchor="ctr"/>
          <a:lstStyle/>
          <a:p>
            <a:pPr marL="0" indent="0">
              <a:buNone/>
            </a:pPr>
            <a:r>
              <a:rPr lang="en-US" sz="1500" b="1" dirty="0">
                <a:solidFill>
                  <a:srgbClr val="2D3142"/>
                </a:solidFill>
                <a:latin typeface="Segoe UI" pitchFamily="34" charset="0"/>
                <a:ea typeface="Segoe UI" pitchFamily="34" charset="-122"/>
                <a:cs typeface="Segoe UI" pitchFamily="34" charset="-120"/>
              </a:rPr>
              <a:t>A living itinerary</a:t>
            </a:r>
            <a:endParaRPr lang="en-US" sz="1500" dirty="0"/>
          </a:p>
        </p:txBody>
      </p:sp>
      <p:sp>
        <p:nvSpPr>
          <p:cNvPr id="14" name="Text 11"/>
          <p:cNvSpPr/>
          <p:nvPr/>
        </p:nvSpPr>
        <p:spPr>
          <a:xfrm>
            <a:off x="7543800" y="5084064"/>
            <a:ext cx="4096512" cy="731520"/>
          </a:xfrm>
          <a:prstGeom prst="rect">
            <a:avLst/>
          </a:prstGeom>
          <a:noFill/>
          <a:ln/>
        </p:spPr>
        <p:txBody>
          <a:bodyPr wrap="square" lIns="0" tIns="0" rIns="0" bIns="0" rtlCol="0" anchor="ctr"/>
          <a:lstStyle/>
          <a:p>
            <a:pPr marL="0" indent="0">
              <a:lnSpc>
                <a:spcPts val="1800"/>
              </a:lnSpc>
              <a:buNone/>
            </a:pPr>
            <a:r>
              <a:rPr lang="en-US" sz="1300" dirty="0">
                <a:solidFill>
                  <a:srgbClr val="4F5D75"/>
                </a:solidFill>
                <a:latin typeface="Segoe UI" pitchFamily="34" charset="0"/>
                <a:ea typeface="Segoe UI" pitchFamily="34" charset="-122"/>
                <a:cs typeface="Segoe UI" pitchFamily="34" charset="-120"/>
              </a:rPr>
              <a:t>Detects disruptions and rebases the plan, like version control.</a:t>
            </a:r>
            <a:endParaRPr lang="en-US" sz="1300" dirty="0"/>
          </a:p>
        </p:txBody>
      </p:sp>
      <p:sp>
        <p:nvSpPr>
          <p:cNvPr id="15" name="Text 12"/>
          <p:cNvSpPr/>
          <p:nvPr/>
        </p:nvSpPr>
        <p:spPr>
          <a:xfrm>
            <a:off x="11274552" y="6382512"/>
            <a:ext cx="457200" cy="274320"/>
          </a:xfrm>
          <a:prstGeom prst="rect">
            <a:avLst/>
          </a:prstGeom>
          <a:noFill/>
          <a:ln/>
        </p:spPr>
        <p:txBody>
          <a:bodyPr wrap="square" lIns="0" tIns="0" rIns="0" bIns="0" rtlCol="0" anchor="ctr"/>
          <a:lstStyle/>
          <a:p>
            <a:pPr marL="0" indent="0" algn="r">
              <a:buNone/>
            </a:pPr>
            <a:r>
              <a:rPr lang="en-US" sz="1200" dirty="0">
                <a:solidFill>
                  <a:srgbClr val="7A8399"/>
                </a:solidFill>
                <a:latin typeface="Segoe UI" pitchFamily="34" charset="0"/>
                <a:ea typeface="Segoe UI" pitchFamily="34" charset="-122"/>
                <a:cs typeface="Segoe UI"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D3142"/>
        </a:solidFill>
        <a:effectLst/>
      </p:bgPr>
    </p:bg>
    <p:spTree>
      <p:nvGrpSpPr>
        <p:cNvPr id="1" name=""/>
        <p:cNvGrpSpPr/>
        <p:nvPr/>
      </p:nvGrpSpPr>
      <p:grpSpPr>
        <a:xfrm>
          <a:off x="0" y="0"/>
          <a:ext cx="0" cy="0"/>
          <a:chOff x="0" y="0"/>
          <a:chExt cx="0" cy="0"/>
        </a:xfrm>
      </p:grpSpPr>
      <p:sp>
        <p:nvSpPr>
          <p:cNvPr id="2" name="Text 0"/>
          <p:cNvSpPr/>
          <p:nvPr/>
        </p:nvSpPr>
        <p:spPr>
          <a:xfrm>
            <a:off x="548640" y="475488"/>
            <a:ext cx="8229600" cy="292608"/>
          </a:xfrm>
          <a:prstGeom prst="rect">
            <a:avLst/>
          </a:prstGeom>
          <a:noFill/>
          <a:ln/>
        </p:spPr>
        <p:txBody>
          <a:bodyPr wrap="square" lIns="0" tIns="0" rIns="0" bIns="0" rtlCol="0" anchor="ctr"/>
          <a:lstStyle/>
          <a:p>
            <a:pPr marL="0" indent="0">
              <a:buNone/>
            </a:pPr>
            <a:r>
              <a:rPr lang="en-US" sz="1200" b="1" kern="0" spc="400" dirty="0">
                <a:solidFill>
                  <a:srgbClr val="BFC0C0"/>
                </a:solidFill>
                <a:latin typeface="Segoe UI" pitchFamily="34" charset="0"/>
                <a:ea typeface="Segoe UI" pitchFamily="34" charset="-122"/>
                <a:cs typeface="Segoe UI" pitchFamily="34" charset="-120"/>
              </a:rPr>
              <a:t>PROTOTYPE WALKTHROUGH</a:t>
            </a:r>
            <a:endParaRPr lang="en-US" sz="1200" dirty="0"/>
          </a:p>
        </p:txBody>
      </p:sp>
      <p:sp>
        <p:nvSpPr>
          <p:cNvPr id="3" name="Text 1"/>
          <p:cNvSpPr/>
          <p:nvPr/>
        </p:nvSpPr>
        <p:spPr>
          <a:xfrm>
            <a:off x="548640" y="2148840"/>
            <a:ext cx="10972800" cy="1005840"/>
          </a:xfrm>
          <a:prstGeom prst="rect">
            <a:avLst/>
          </a:prstGeom>
          <a:noFill/>
          <a:ln/>
        </p:spPr>
        <p:txBody>
          <a:bodyPr wrap="square" lIns="0" tIns="0" rIns="0" bIns="0" rtlCol="0" anchor="ctr"/>
          <a:lstStyle/>
          <a:p>
            <a:pPr marL="0" indent="0">
              <a:buNone/>
            </a:pPr>
            <a:r>
              <a:rPr lang="en-US" sz="4800" dirty="0">
                <a:solidFill>
                  <a:srgbClr val="F5F5F5"/>
                </a:solidFill>
                <a:latin typeface="Georgia" pitchFamily="34" charset="0"/>
                <a:ea typeface="Georgia" pitchFamily="34" charset="-122"/>
                <a:cs typeface="Georgia" pitchFamily="34" charset="-120"/>
              </a:rPr>
              <a:t>Four screens, one loop.</a:t>
            </a:r>
            <a:endParaRPr lang="en-US" sz="4800" dirty="0"/>
          </a:p>
        </p:txBody>
      </p:sp>
      <p:sp>
        <p:nvSpPr>
          <p:cNvPr id="4" name="Text 2"/>
          <p:cNvSpPr/>
          <p:nvPr/>
        </p:nvSpPr>
        <p:spPr>
          <a:xfrm>
            <a:off x="548640" y="3246120"/>
            <a:ext cx="9144000" cy="365760"/>
          </a:xfrm>
          <a:prstGeom prst="rect">
            <a:avLst/>
          </a:prstGeom>
          <a:noFill/>
          <a:ln/>
        </p:spPr>
        <p:txBody>
          <a:bodyPr wrap="square" lIns="0" tIns="0" rIns="0" bIns="0" rtlCol="0" anchor="ctr"/>
          <a:lstStyle/>
          <a:p>
            <a:pPr marL="0" indent="0">
              <a:buNone/>
            </a:pPr>
            <a:r>
              <a:rPr lang="en-US" sz="1600" dirty="0">
                <a:solidFill>
                  <a:srgbClr val="BFC0C0"/>
                </a:solidFill>
                <a:latin typeface="Segoe UI" pitchFamily="34" charset="0"/>
                <a:ea typeface="Segoe UI" pitchFamily="34" charset="-122"/>
                <a:cs typeface="Segoe UI" pitchFamily="34" charset="-120"/>
              </a:rPr>
              <a:t>A guided tour of the UI prototype — design decisions called out as we go.</a:t>
            </a:r>
            <a:endParaRPr lang="en-US" sz="1600" dirty="0"/>
          </a:p>
        </p:txBody>
      </p:sp>
      <p:sp>
        <p:nvSpPr>
          <p:cNvPr id="5" name="Shape 3"/>
          <p:cNvSpPr/>
          <p:nvPr/>
        </p:nvSpPr>
        <p:spPr>
          <a:xfrm>
            <a:off x="548640" y="4480560"/>
            <a:ext cx="2514600" cy="0"/>
          </a:xfrm>
          <a:prstGeom prst="line">
            <a:avLst/>
          </a:prstGeom>
          <a:noFill/>
          <a:ln w="12700">
            <a:solidFill>
              <a:srgbClr val="454A5E"/>
            </a:solidFill>
            <a:prstDash val="solid"/>
          </a:ln>
        </p:spPr>
        <p:txBody>
          <a:bodyPr/>
          <a:lstStyle/>
          <a:p>
            <a:endParaRPr/>
          </a:p>
        </p:txBody>
      </p:sp>
      <p:sp>
        <p:nvSpPr>
          <p:cNvPr id="6" name="Text 4"/>
          <p:cNvSpPr/>
          <p:nvPr/>
        </p:nvSpPr>
        <p:spPr>
          <a:xfrm>
            <a:off x="548640" y="4645152"/>
            <a:ext cx="914400" cy="502920"/>
          </a:xfrm>
          <a:prstGeom prst="rect">
            <a:avLst/>
          </a:prstGeom>
          <a:noFill/>
          <a:ln/>
        </p:spPr>
        <p:txBody>
          <a:bodyPr wrap="square" lIns="0" tIns="0" rIns="0" bIns="0" rtlCol="0" anchor="ctr"/>
          <a:lstStyle/>
          <a:p>
            <a:pPr marL="0" indent="0">
              <a:buNone/>
            </a:pPr>
            <a:r>
              <a:rPr lang="en-US" sz="2600" dirty="0">
                <a:solidFill>
                  <a:srgbClr val="BFC0C0"/>
                </a:solidFill>
                <a:latin typeface="Georgia" pitchFamily="34" charset="0"/>
                <a:ea typeface="Georgia" pitchFamily="34" charset="-122"/>
                <a:cs typeface="Georgia" pitchFamily="34" charset="-120"/>
              </a:rPr>
              <a:t>01</a:t>
            </a:r>
            <a:endParaRPr lang="en-US" sz="2600" dirty="0"/>
          </a:p>
        </p:txBody>
      </p:sp>
      <p:sp>
        <p:nvSpPr>
          <p:cNvPr id="7" name="Text 5"/>
          <p:cNvSpPr/>
          <p:nvPr/>
        </p:nvSpPr>
        <p:spPr>
          <a:xfrm>
            <a:off x="548640" y="5175504"/>
            <a:ext cx="2514600" cy="310896"/>
          </a:xfrm>
          <a:prstGeom prst="rect">
            <a:avLst/>
          </a:prstGeom>
          <a:noFill/>
          <a:ln/>
        </p:spPr>
        <p:txBody>
          <a:bodyPr wrap="square" lIns="0" tIns="0" rIns="0" bIns="0" rtlCol="0" anchor="ctr"/>
          <a:lstStyle/>
          <a:p>
            <a:pPr marL="0" indent="0">
              <a:buNone/>
            </a:pPr>
            <a:r>
              <a:rPr lang="en-US" sz="1500" b="1" dirty="0">
                <a:solidFill>
                  <a:srgbClr val="F5F5F5"/>
                </a:solidFill>
                <a:latin typeface="Segoe UI" pitchFamily="34" charset="0"/>
                <a:ea typeface="Segoe UI" pitchFamily="34" charset="-122"/>
                <a:cs typeface="Segoe UI" pitchFamily="34" charset="-120"/>
              </a:rPr>
              <a:t>Dashboard</a:t>
            </a:r>
            <a:endParaRPr lang="en-US" sz="1500" dirty="0"/>
          </a:p>
        </p:txBody>
      </p:sp>
      <p:sp>
        <p:nvSpPr>
          <p:cNvPr id="8" name="Text 6"/>
          <p:cNvSpPr/>
          <p:nvPr/>
        </p:nvSpPr>
        <p:spPr>
          <a:xfrm>
            <a:off x="548640" y="5486400"/>
            <a:ext cx="2514600" cy="292608"/>
          </a:xfrm>
          <a:prstGeom prst="rect">
            <a:avLst/>
          </a:prstGeom>
          <a:noFill/>
          <a:ln/>
        </p:spPr>
        <p:txBody>
          <a:bodyPr wrap="square" lIns="0" tIns="0" rIns="0" bIns="0" rtlCol="0" anchor="ctr"/>
          <a:lstStyle/>
          <a:p>
            <a:pPr marL="0" indent="0">
              <a:buNone/>
            </a:pPr>
            <a:r>
              <a:rPr lang="en-US" sz="1200" dirty="0">
                <a:solidFill>
                  <a:srgbClr val="7A8399"/>
                </a:solidFill>
                <a:latin typeface="Segoe UI" pitchFamily="34" charset="0"/>
                <a:ea typeface="Segoe UI" pitchFamily="34" charset="-122"/>
                <a:cs typeface="Segoe UI" pitchFamily="34" charset="-120"/>
              </a:rPr>
              <a:t>the decision workspace</a:t>
            </a:r>
            <a:endParaRPr lang="en-US" sz="1200" dirty="0"/>
          </a:p>
        </p:txBody>
      </p:sp>
      <p:sp>
        <p:nvSpPr>
          <p:cNvPr id="9" name="Shape 7"/>
          <p:cNvSpPr/>
          <p:nvPr/>
        </p:nvSpPr>
        <p:spPr>
          <a:xfrm>
            <a:off x="3383280" y="4480560"/>
            <a:ext cx="2514600" cy="0"/>
          </a:xfrm>
          <a:prstGeom prst="line">
            <a:avLst/>
          </a:prstGeom>
          <a:noFill/>
          <a:ln w="12700">
            <a:solidFill>
              <a:srgbClr val="454A5E"/>
            </a:solidFill>
            <a:prstDash val="solid"/>
          </a:ln>
        </p:spPr>
        <p:txBody>
          <a:bodyPr/>
          <a:lstStyle/>
          <a:p>
            <a:endParaRPr/>
          </a:p>
        </p:txBody>
      </p:sp>
      <p:sp>
        <p:nvSpPr>
          <p:cNvPr id="10" name="Text 8"/>
          <p:cNvSpPr/>
          <p:nvPr/>
        </p:nvSpPr>
        <p:spPr>
          <a:xfrm>
            <a:off x="3383280" y="4645152"/>
            <a:ext cx="914400" cy="502920"/>
          </a:xfrm>
          <a:prstGeom prst="rect">
            <a:avLst/>
          </a:prstGeom>
          <a:noFill/>
          <a:ln/>
        </p:spPr>
        <p:txBody>
          <a:bodyPr wrap="square" lIns="0" tIns="0" rIns="0" bIns="0" rtlCol="0" anchor="ctr"/>
          <a:lstStyle/>
          <a:p>
            <a:pPr marL="0" indent="0">
              <a:buNone/>
            </a:pPr>
            <a:r>
              <a:rPr lang="en-US" sz="2600" dirty="0">
                <a:solidFill>
                  <a:srgbClr val="BFC0C0"/>
                </a:solidFill>
                <a:latin typeface="Georgia" pitchFamily="34" charset="0"/>
                <a:ea typeface="Georgia" pitchFamily="34" charset="-122"/>
                <a:cs typeface="Georgia" pitchFamily="34" charset="-120"/>
              </a:rPr>
              <a:t>02</a:t>
            </a:r>
            <a:endParaRPr lang="en-US" sz="2600" dirty="0"/>
          </a:p>
        </p:txBody>
      </p:sp>
      <p:sp>
        <p:nvSpPr>
          <p:cNvPr id="11" name="Text 9"/>
          <p:cNvSpPr/>
          <p:nvPr/>
        </p:nvSpPr>
        <p:spPr>
          <a:xfrm>
            <a:off x="3383280" y="5175504"/>
            <a:ext cx="2514600" cy="310896"/>
          </a:xfrm>
          <a:prstGeom prst="rect">
            <a:avLst/>
          </a:prstGeom>
          <a:noFill/>
          <a:ln/>
        </p:spPr>
        <p:txBody>
          <a:bodyPr wrap="square" lIns="0" tIns="0" rIns="0" bIns="0" rtlCol="0" anchor="ctr"/>
          <a:lstStyle/>
          <a:p>
            <a:pPr marL="0" indent="0">
              <a:buNone/>
            </a:pPr>
            <a:r>
              <a:rPr lang="en-US" sz="1500" b="1" dirty="0">
                <a:solidFill>
                  <a:srgbClr val="F5F5F5"/>
                </a:solidFill>
                <a:latin typeface="Segoe UI" pitchFamily="34" charset="0"/>
                <a:ea typeface="Segoe UI" pitchFamily="34" charset="-122"/>
                <a:cs typeface="Segoe UI" pitchFamily="34" charset="-120"/>
              </a:rPr>
              <a:t>Recommendation</a:t>
            </a:r>
            <a:endParaRPr lang="en-US" sz="1500" dirty="0"/>
          </a:p>
        </p:txBody>
      </p:sp>
      <p:sp>
        <p:nvSpPr>
          <p:cNvPr id="12" name="Text 10"/>
          <p:cNvSpPr/>
          <p:nvPr/>
        </p:nvSpPr>
        <p:spPr>
          <a:xfrm>
            <a:off x="3383280" y="5486400"/>
            <a:ext cx="2514600" cy="292608"/>
          </a:xfrm>
          <a:prstGeom prst="rect">
            <a:avLst/>
          </a:prstGeom>
          <a:noFill/>
          <a:ln/>
        </p:spPr>
        <p:txBody>
          <a:bodyPr wrap="square" lIns="0" tIns="0" rIns="0" bIns="0" rtlCol="0" anchor="ctr"/>
          <a:lstStyle/>
          <a:p>
            <a:pPr marL="0" indent="0">
              <a:buNone/>
            </a:pPr>
            <a:r>
              <a:rPr lang="en-US" sz="1200" dirty="0">
                <a:solidFill>
                  <a:srgbClr val="7A8399"/>
                </a:solidFill>
                <a:latin typeface="Segoe UI" pitchFamily="34" charset="0"/>
                <a:ea typeface="Segoe UI" pitchFamily="34" charset="-122"/>
                <a:cs typeface="Segoe UI" pitchFamily="34" charset="-120"/>
              </a:rPr>
              <a:t>scored for the group</a:t>
            </a:r>
            <a:endParaRPr lang="en-US" sz="1200" dirty="0"/>
          </a:p>
        </p:txBody>
      </p:sp>
      <p:sp>
        <p:nvSpPr>
          <p:cNvPr id="13" name="Shape 11"/>
          <p:cNvSpPr/>
          <p:nvPr/>
        </p:nvSpPr>
        <p:spPr>
          <a:xfrm>
            <a:off x="6217920" y="4480560"/>
            <a:ext cx="2514600" cy="0"/>
          </a:xfrm>
          <a:prstGeom prst="line">
            <a:avLst/>
          </a:prstGeom>
          <a:noFill/>
          <a:ln w="12700">
            <a:solidFill>
              <a:srgbClr val="454A5E"/>
            </a:solidFill>
            <a:prstDash val="solid"/>
          </a:ln>
        </p:spPr>
        <p:txBody>
          <a:bodyPr/>
          <a:lstStyle/>
          <a:p>
            <a:endParaRPr/>
          </a:p>
        </p:txBody>
      </p:sp>
      <p:sp>
        <p:nvSpPr>
          <p:cNvPr id="14" name="Text 12"/>
          <p:cNvSpPr/>
          <p:nvPr/>
        </p:nvSpPr>
        <p:spPr>
          <a:xfrm>
            <a:off x="6217920" y="4645152"/>
            <a:ext cx="914400" cy="502920"/>
          </a:xfrm>
          <a:prstGeom prst="rect">
            <a:avLst/>
          </a:prstGeom>
          <a:noFill/>
          <a:ln/>
        </p:spPr>
        <p:txBody>
          <a:bodyPr wrap="square" lIns="0" tIns="0" rIns="0" bIns="0" rtlCol="0" anchor="ctr"/>
          <a:lstStyle/>
          <a:p>
            <a:pPr marL="0" indent="0">
              <a:buNone/>
            </a:pPr>
            <a:r>
              <a:rPr lang="en-US" sz="2600" dirty="0">
                <a:solidFill>
                  <a:srgbClr val="EB6C36"/>
                </a:solidFill>
                <a:latin typeface="Georgia" pitchFamily="34" charset="0"/>
                <a:ea typeface="Georgia" pitchFamily="34" charset="-122"/>
                <a:cs typeface="Georgia" pitchFamily="34" charset="-120"/>
              </a:rPr>
              <a:t>03</a:t>
            </a:r>
            <a:endParaRPr lang="en-US" sz="2600" dirty="0"/>
          </a:p>
        </p:txBody>
      </p:sp>
      <p:sp>
        <p:nvSpPr>
          <p:cNvPr id="15" name="Text 13"/>
          <p:cNvSpPr/>
          <p:nvPr/>
        </p:nvSpPr>
        <p:spPr>
          <a:xfrm>
            <a:off x="6217920" y="5175504"/>
            <a:ext cx="2514600" cy="310896"/>
          </a:xfrm>
          <a:prstGeom prst="rect">
            <a:avLst/>
          </a:prstGeom>
          <a:noFill/>
          <a:ln/>
        </p:spPr>
        <p:txBody>
          <a:bodyPr wrap="square" lIns="0" tIns="0" rIns="0" bIns="0" rtlCol="0" anchor="ctr"/>
          <a:lstStyle/>
          <a:p>
            <a:pPr marL="0" indent="0">
              <a:buNone/>
            </a:pPr>
            <a:r>
              <a:rPr lang="en-US" sz="1500" b="1" dirty="0">
                <a:solidFill>
                  <a:srgbClr val="F5F5F5"/>
                </a:solidFill>
                <a:latin typeface="Segoe UI" pitchFamily="34" charset="0"/>
                <a:ea typeface="Segoe UI" pitchFamily="34" charset="-122"/>
                <a:cs typeface="Segoe UI" pitchFamily="34" charset="-120"/>
              </a:rPr>
              <a:t>Proposal &amp; vote</a:t>
            </a:r>
            <a:endParaRPr lang="en-US" sz="1500" dirty="0"/>
          </a:p>
        </p:txBody>
      </p:sp>
      <p:sp>
        <p:nvSpPr>
          <p:cNvPr id="16" name="Text 14"/>
          <p:cNvSpPr/>
          <p:nvPr/>
        </p:nvSpPr>
        <p:spPr>
          <a:xfrm>
            <a:off x="6217920" y="5486400"/>
            <a:ext cx="2514600" cy="292608"/>
          </a:xfrm>
          <a:prstGeom prst="rect">
            <a:avLst/>
          </a:prstGeom>
          <a:noFill/>
          <a:ln/>
        </p:spPr>
        <p:txBody>
          <a:bodyPr wrap="square" lIns="0" tIns="0" rIns="0" bIns="0" rtlCol="0" anchor="ctr"/>
          <a:lstStyle/>
          <a:p>
            <a:pPr marL="0" indent="0">
              <a:buNone/>
            </a:pPr>
            <a:r>
              <a:rPr lang="en-US" sz="1200" dirty="0">
                <a:solidFill>
                  <a:srgbClr val="EB6C36"/>
                </a:solidFill>
                <a:latin typeface="Segoe UI" pitchFamily="34" charset="0"/>
                <a:ea typeface="Segoe UI" pitchFamily="34" charset="-122"/>
                <a:cs typeface="Segoe UI" pitchFamily="34" charset="-120"/>
              </a:rPr>
              <a:t>the core screen</a:t>
            </a:r>
            <a:endParaRPr lang="en-US" sz="1200" dirty="0"/>
          </a:p>
        </p:txBody>
      </p:sp>
      <p:sp>
        <p:nvSpPr>
          <p:cNvPr id="17" name="Shape 15"/>
          <p:cNvSpPr/>
          <p:nvPr/>
        </p:nvSpPr>
        <p:spPr>
          <a:xfrm>
            <a:off x="9052560" y="4480560"/>
            <a:ext cx="2514600" cy="0"/>
          </a:xfrm>
          <a:prstGeom prst="line">
            <a:avLst/>
          </a:prstGeom>
          <a:noFill/>
          <a:ln w="12700">
            <a:solidFill>
              <a:srgbClr val="454A5E"/>
            </a:solidFill>
            <a:prstDash val="solid"/>
          </a:ln>
        </p:spPr>
        <p:txBody>
          <a:bodyPr/>
          <a:lstStyle/>
          <a:p>
            <a:endParaRPr/>
          </a:p>
        </p:txBody>
      </p:sp>
      <p:sp>
        <p:nvSpPr>
          <p:cNvPr id="18" name="Text 16"/>
          <p:cNvSpPr/>
          <p:nvPr/>
        </p:nvSpPr>
        <p:spPr>
          <a:xfrm>
            <a:off x="9052560" y="4645152"/>
            <a:ext cx="914400" cy="502920"/>
          </a:xfrm>
          <a:prstGeom prst="rect">
            <a:avLst/>
          </a:prstGeom>
          <a:noFill/>
          <a:ln/>
        </p:spPr>
        <p:txBody>
          <a:bodyPr wrap="square" lIns="0" tIns="0" rIns="0" bIns="0" rtlCol="0" anchor="ctr"/>
          <a:lstStyle/>
          <a:p>
            <a:pPr marL="0" indent="0">
              <a:buNone/>
            </a:pPr>
            <a:r>
              <a:rPr lang="en-US" sz="2600" dirty="0">
                <a:solidFill>
                  <a:srgbClr val="BFC0C0"/>
                </a:solidFill>
                <a:latin typeface="Georgia" pitchFamily="34" charset="0"/>
                <a:ea typeface="Georgia" pitchFamily="34" charset="-122"/>
                <a:cs typeface="Georgia" pitchFamily="34" charset="-120"/>
              </a:rPr>
              <a:t>04</a:t>
            </a:r>
            <a:endParaRPr lang="en-US" sz="2600" dirty="0"/>
          </a:p>
        </p:txBody>
      </p:sp>
      <p:sp>
        <p:nvSpPr>
          <p:cNvPr id="19" name="Text 17"/>
          <p:cNvSpPr/>
          <p:nvPr/>
        </p:nvSpPr>
        <p:spPr>
          <a:xfrm>
            <a:off x="9052560" y="5175504"/>
            <a:ext cx="2514600" cy="310896"/>
          </a:xfrm>
          <a:prstGeom prst="rect">
            <a:avLst/>
          </a:prstGeom>
          <a:noFill/>
          <a:ln/>
        </p:spPr>
        <p:txBody>
          <a:bodyPr wrap="square" lIns="0" tIns="0" rIns="0" bIns="0" rtlCol="0" anchor="ctr"/>
          <a:lstStyle/>
          <a:p>
            <a:pPr marL="0" indent="0">
              <a:buNone/>
            </a:pPr>
            <a:r>
              <a:rPr lang="en-US" sz="1500" b="1" dirty="0">
                <a:solidFill>
                  <a:srgbClr val="F5F5F5"/>
                </a:solidFill>
                <a:latin typeface="Segoe UI" pitchFamily="34" charset="0"/>
                <a:ea typeface="Segoe UI" pitchFamily="34" charset="-122"/>
                <a:cs typeface="Segoe UI" pitchFamily="34" charset="-120"/>
              </a:rPr>
              <a:t>Replanning</a:t>
            </a:r>
            <a:endParaRPr lang="en-US" sz="1500" dirty="0"/>
          </a:p>
        </p:txBody>
      </p:sp>
      <p:sp>
        <p:nvSpPr>
          <p:cNvPr id="20" name="Text 18"/>
          <p:cNvSpPr/>
          <p:nvPr/>
        </p:nvSpPr>
        <p:spPr>
          <a:xfrm>
            <a:off x="9052560" y="5486400"/>
            <a:ext cx="2514600" cy="292608"/>
          </a:xfrm>
          <a:prstGeom prst="rect">
            <a:avLst/>
          </a:prstGeom>
          <a:noFill/>
          <a:ln/>
        </p:spPr>
        <p:txBody>
          <a:bodyPr wrap="square" lIns="0" tIns="0" rIns="0" bIns="0" rtlCol="0" anchor="ctr"/>
          <a:lstStyle/>
          <a:p>
            <a:pPr marL="0" indent="0">
              <a:buNone/>
            </a:pPr>
            <a:r>
              <a:rPr lang="en-US" sz="1200" dirty="0">
                <a:solidFill>
                  <a:srgbClr val="7A8399"/>
                </a:solidFill>
                <a:latin typeface="Segoe UI" pitchFamily="34" charset="0"/>
                <a:ea typeface="Segoe UI" pitchFamily="34" charset="-122"/>
                <a:cs typeface="Segoe UI" pitchFamily="34" charset="-120"/>
              </a:rPr>
              <a:t>the loop closes</a:t>
            </a:r>
            <a:endParaRPr lang="en-US" sz="1200" dirty="0"/>
          </a:p>
        </p:txBody>
      </p:sp>
      <p:sp>
        <p:nvSpPr>
          <p:cNvPr id="21" name="Text 19"/>
          <p:cNvSpPr/>
          <p:nvPr/>
        </p:nvSpPr>
        <p:spPr>
          <a:xfrm>
            <a:off x="11274552" y="6382512"/>
            <a:ext cx="457200" cy="274320"/>
          </a:xfrm>
          <a:prstGeom prst="rect">
            <a:avLst/>
          </a:prstGeom>
          <a:noFill/>
          <a:ln/>
        </p:spPr>
        <p:txBody>
          <a:bodyPr wrap="square" lIns="0" tIns="0" rIns="0" bIns="0" rtlCol="0" anchor="ctr"/>
          <a:lstStyle/>
          <a:p>
            <a:pPr marL="0" indent="0" algn="r">
              <a:buNone/>
            </a:pPr>
            <a:r>
              <a:rPr lang="en-US" sz="1200" dirty="0">
                <a:solidFill>
                  <a:srgbClr val="7A8399"/>
                </a:solidFill>
                <a:latin typeface="Segoe UI" pitchFamily="34" charset="0"/>
                <a:ea typeface="Segoe UI" pitchFamily="34" charset="-122"/>
                <a:cs typeface="Segoe UI"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548640" y="475488"/>
            <a:ext cx="8229600" cy="292608"/>
          </a:xfrm>
          <a:prstGeom prst="rect">
            <a:avLst/>
          </a:prstGeom>
          <a:noFill/>
          <a:ln/>
        </p:spPr>
        <p:txBody>
          <a:bodyPr wrap="square" lIns="0" tIns="0" rIns="0" bIns="0" rtlCol="0" anchor="ctr"/>
          <a:lstStyle/>
          <a:p>
            <a:pPr marL="0" indent="0">
              <a:buNone/>
            </a:pPr>
            <a:r>
              <a:rPr lang="en-US" sz="1200" b="1" kern="0" spc="400" dirty="0">
                <a:solidFill>
                  <a:srgbClr val="4F5D75"/>
                </a:solidFill>
                <a:latin typeface="Segoe UI" pitchFamily="34" charset="0"/>
                <a:ea typeface="Segoe UI" pitchFamily="34" charset="-122"/>
                <a:cs typeface="Segoe UI" pitchFamily="34" charset="-120"/>
              </a:rPr>
              <a:t>DEMO · 1 — TRIP DASHBOARD</a:t>
            </a:r>
            <a:endParaRPr lang="en-US" sz="1200" dirty="0"/>
          </a:p>
        </p:txBody>
      </p:sp>
      <p:sp>
        <p:nvSpPr>
          <p:cNvPr id="3" name="Text 1"/>
          <p:cNvSpPr/>
          <p:nvPr/>
        </p:nvSpPr>
        <p:spPr>
          <a:xfrm>
            <a:off x="548640" y="841248"/>
            <a:ext cx="11091672" cy="914400"/>
          </a:xfrm>
          <a:prstGeom prst="rect">
            <a:avLst/>
          </a:prstGeom>
          <a:noFill/>
          <a:ln/>
        </p:spPr>
        <p:txBody>
          <a:bodyPr wrap="square" lIns="0" tIns="0" rIns="0" bIns="0" rtlCol="0" anchor="ctr"/>
          <a:lstStyle/>
          <a:p>
            <a:pPr marL="0" indent="0">
              <a:buNone/>
            </a:pPr>
            <a:r>
              <a:rPr lang="en-US" sz="2800" dirty="0">
                <a:solidFill>
                  <a:srgbClr val="2D3142"/>
                </a:solidFill>
                <a:latin typeface="Georgia" pitchFamily="34" charset="0"/>
                <a:ea typeface="Georgia" pitchFamily="34" charset="-122"/>
                <a:cs typeface="Georgia" pitchFamily="34" charset="-120"/>
              </a:rPr>
              <a:t>A decision workspace, not a travel portal</a:t>
            </a:r>
            <a:endParaRPr lang="en-US" sz="2800" dirty="0"/>
          </a:p>
        </p:txBody>
      </p:sp>
      <p:sp>
        <p:nvSpPr>
          <p:cNvPr id="4" name="Shape 2"/>
          <p:cNvSpPr/>
          <p:nvPr/>
        </p:nvSpPr>
        <p:spPr>
          <a:xfrm>
            <a:off x="548640" y="2057400"/>
            <a:ext cx="7223760" cy="3749040"/>
          </a:xfrm>
          <a:prstGeom prst="rect">
            <a:avLst/>
          </a:prstGeom>
          <a:solidFill>
            <a:srgbClr val="FFFFFF"/>
          </a:solidFill>
          <a:ln w="12700">
            <a:solidFill>
              <a:srgbClr val="2D3142"/>
            </a:solidFill>
            <a:prstDash val="solid"/>
          </a:ln>
        </p:spPr>
        <p:txBody>
          <a:bodyPr/>
          <a:lstStyle/>
          <a:p>
            <a:endParaRPr/>
          </a:p>
        </p:txBody>
      </p:sp>
      <p:sp>
        <p:nvSpPr>
          <p:cNvPr id="5" name="Text 3"/>
          <p:cNvSpPr/>
          <p:nvPr/>
        </p:nvSpPr>
        <p:spPr>
          <a:xfrm>
            <a:off x="731520" y="2167128"/>
            <a:ext cx="6858000" cy="274320"/>
          </a:xfrm>
          <a:prstGeom prst="rect">
            <a:avLst/>
          </a:prstGeom>
          <a:noFill/>
          <a:ln/>
        </p:spPr>
        <p:txBody>
          <a:bodyPr wrap="square" lIns="0" tIns="0" rIns="0" bIns="0" rtlCol="0" anchor="ctr"/>
          <a:lstStyle/>
          <a:p>
            <a:pPr marL="0" indent="0">
              <a:buNone/>
            </a:pPr>
            <a:r>
              <a:rPr lang="en-US" sz="1200" b="1" dirty="0">
                <a:solidFill>
                  <a:srgbClr val="2D3142"/>
                </a:solidFill>
                <a:latin typeface="Segoe UI" pitchFamily="34" charset="0"/>
                <a:ea typeface="Segoe UI" pitchFamily="34" charset="-122"/>
                <a:cs typeface="Segoe UI" pitchFamily="34" charset="-120"/>
              </a:rPr>
              <a:t>Tokyo Trip      Oct 20–24      RM4,120 / RM5,000</a:t>
            </a:r>
            <a:endParaRPr lang="en-US" sz="1200" dirty="0"/>
          </a:p>
        </p:txBody>
      </p:sp>
      <p:sp>
        <p:nvSpPr>
          <p:cNvPr id="6" name="Shape 4"/>
          <p:cNvSpPr/>
          <p:nvPr/>
        </p:nvSpPr>
        <p:spPr>
          <a:xfrm>
            <a:off x="548640" y="2514600"/>
            <a:ext cx="7223760" cy="0"/>
          </a:xfrm>
          <a:prstGeom prst="line">
            <a:avLst/>
          </a:prstGeom>
          <a:noFill/>
          <a:ln w="12700">
            <a:solidFill>
              <a:srgbClr val="D9D9DE"/>
            </a:solidFill>
            <a:prstDash val="solid"/>
          </a:ln>
        </p:spPr>
        <p:txBody>
          <a:bodyPr/>
          <a:lstStyle/>
          <a:p>
            <a:endParaRPr/>
          </a:p>
        </p:txBody>
      </p:sp>
      <p:sp>
        <p:nvSpPr>
          <p:cNvPr id="7" name="Text 5"/>
          <p:cNvSpPr/>
          <p:nvPr/>
        </p:nvSpPr>
        <p:spPr>
          <a:xfrm>
            <a:off x="731520" y="2624328"/>
            <a:ext cx="1481328" cy="237744"/>
          </a:xfrm>
          <a:prstGeom prst="rect">
            <a:avLst/>
          </a:prstGeom>
          <a:noFill/>
          <a:ln/>
        </p:spPr>
        <p:txBody>
          <a:bodyPr wrap="square" lIns="0" tIns="0" rIns="0" bIns="0" rtlCol="0" anchor="ctr"/>
          <a:lstStyle/>
          <a:p>
            <a:pPr marL="0" indent="0">
              <a:buNone/>
            </a:pPr>
            <a:r>
              <a:rPr lang="en-US" sz="1200" b="1" kern="0" spc="200" dirty="0">
                <a:solidFill>
                  <a:srgbClr val="7A8399"/>
                </a:solidFill>
                <a:latin typeface="Segoe UI" pitchFamily="34" charset="0"/>
                <a:ea typeface="Segoe UI" pitchFamily="34" charset="-122"/>
                <a:cs typeface="Segoe UI" pitchFamily="34" charset="-120"/>
              </a:rPr>
              <a:t>ITINERARY</a:t>
            </a:r>
            <a:endParaRPr lang="en-US" sz="1200" dirty="0"/>
          </a:p>
        </p:txBody>
      </p:sp>
      <p:sp>
        <p:nvSpPr>
          <p:cNvPr id="8" name="Text 6"/>
          <p:cNvSpPr/>
          <p:nvPr/>
        </p:nvSpPr>
        <p:spPr>
          <a:xfrm>
            <a:off x="731520" y="2953512"/>
            <a:ext cx="1481328" cy="1463040"/>
          </a:xfrm>
          <a:prstGeom prst="rect">
            <a:avLst/>
          </a:prstGeom>
          <a:noFill/>
          <a:ln/>
        </p:spPr>
        <p:txBody>
          <a:bodyPr wrap="square" lIns="0" tIns="0" rIns="0" bIns="0" rtlCol="0" anchor="ctr"/>
          <a:lstStyle/>
          <a:p>
            <a:pPr marL="0" indent="0">
              <a:lnSpc>
                <a:spcPts val="2100"/>
              </a:lnSpc>
              <a:buNone/>
            </a:pPr>
            <a:r>
              <a:rPr lang="en-US" sz="1200" dirty="0">
                <a:solidFill>
                  <a:srgbClr val="2D3142"/>
                </a:solidFill>
                <a:latin typeface="Segoe UI" pitchFamily="34" charset="0"/>
                <a:ea typeface="Segoe UI" pitchFamily="34" charset="-122"/>
                <a:cs typeface="Segoe UI" pitchFamily="34" charset="-120"/>
              </a:rPr>
              <a:t>Day 1  Asakusa</a:t>
            </a:r>
            <a:endParaRPr lang="en-US" sz="1200" dirty="0"/>
          </a:p>
          <a:p>
            <a:pPr marL="0" indent="0">
              <a:lnSpc>
                <a:spcPts val="2100"/>
              </a:lnSpc>
              <a:buNone/>
            </a:pPr>
            <a:r>
              <a:rPr lang="en-US" sz="1200" dirty="0">
                <a:solidFill>
                  <a:srgbClr val="2D3142"/>
                </a:solidFill>
                <a:latin typeface="Segoe UI" pitchFamily="34" charset="0"/>
                <a:ea typeface="Segoe UI" pitchFamily="34" charset="-122"/>
                <a:cs typeface="Segoe UI" pitchFamily="34" charset="-120"/>
              </a:rPr>
              <a:t>Day 2  Shibuya</a:t>
            </a:r>
            <a:endParaRPr lang="en-US" sz="1200" dirty="0"/>
          </a:p>
          <a:p>
            <a:pPr marL="0" indent="0">
              <a:lnSpc>
                <a:spcPts val="2100"/>
              </a:lnSpc>
              <a:buNone/>
            </a:pPr>
            <a:r>
              <a:rPr lang="en-US" sz="1200" dirty="0">
                <a:solidFill>
                  <a:srgbClr val="2D3142"/>
                </a:solidFill>
                <a:latin typeface="Segoe UI" pitchFamily="34" charset="0"/>
                <a:ea typeface="Segoe UI" pitchFamily="34" charset="-122"/>
                <a:cs typeface="Segoe UI" pitchFamily="34" charset="-120"/>
              </a:rPr>
              <a:t>Day 3  Odaiba</a:t>
            </a:r>
            <a:endParaRPr lang="en-US" sz="1200" dirty="0"/>
          </a:p>
          <a:p>
            <a:pPr marL="0" indent="0">
              <a:lnSpc>
                <a:spcPts val="2100"/>
              </a:lnSpc>
              <a:buNone/>
            </a:pPr>
            <a:r>
              <a:rPr lang="en-US" sz="1200" dirty="0">
                <a:solidFill>
                  <a:srgbClr val="2D3142"/>
                </a:solidFill>
                <a:latin typeface="Segoe UI" pitchFamily="34" charset="0"/>
                <a:ea typeface="Segoe UI" pitchFamily="34" charset="-122"/>
                <a:cs typeface="Segoe UI" pitchFamily="34" charset="-120"/>
              </a:rPr>
              <a:t>Day 4  Hakone</a:t>
            </a:r>
            <a:endParaRPr lang="en-US" sz="1200" dirty="0"/>
          </a:p>
          <a:p>
            <a:pPr marL="0" indent="0">
              <a:lnSpc>
                <a:spcPts val="2100"/>
              </a:lnSpc>
              <a:buNone/>
            </a:pPr>
            <a:r>
              <a:rPr lang="en-US" sz="1200" dirty="0">
                <a:solidFill>
                  <a:srgbClr val="2D3142"/>
                </a:solidFill>
                <a:latin typeface="Segoe UI" pitchFamily="34" charset="0"/>
                <a:ea typeface="Segoe UI" pitchFamily="34" charset="-122"/>
                <a:cs typeface="Segoe UI" pitchFamily="34" charset="-120"/>
              </a:rPr>
              <a:t>Day 5  Shopping</a:t>
            </a:r>
            <a:endParaRPr lang="en-US" sz="1200" dirty="0"/>
          </a:p>
        </p:txBody>
      </p:sp>
      <p:sp>
        <p:nvSpPr>
          <p:cNvPr id="9" name="Shape 7"/>
          <p:cNvSpPr/>
          <p:nvPr/>
        </p:nvSpPr>
        <p:spPr>
          <a:xfrm>
            <a:off x="2304288" y="2569464"/>
            <a:ext cx="3145536" cy="2724912"/>
          </a:xfrm>
          <a:prstGeom prst="rect">
            <a:avLst/>
          </a:prstGeom>
          <a:solidFill>
            <a:srgbClr val="F5F5F5"/>
          </a:solidFill>
          <a:ln w="10160">
            <a:solidFill>
              <a:srgbClr val="D9D9DE"/>
            </a:solidFill>
            <a:prstDash val="solid"/>
          </a:ln>
        </p:spPr>
        <p:txBody>
          <a:bodyPr/>
          <a:lstStyle/>
          <a:p>
            <a:endParaRPr/>
          </a:p>
        </p:txBody>
      </p:sp>
      <p:sp>
        <p:nvSpPr>
          <p:cNvPr id="10" name="Text 8"/>
          <p:cNvSpPr/>
          <p:nvPr/>
        </p:nvSpPr>
        <p:spPr>
          <a:xfrm>
            <a:off x="2432304" y="2624328"/>
            <a:ext cx="1828800" cy="237744"/>
          </a:xfrm>
          <a:prstGeom prst="rect">
            <a:avLst/>
          </a:prstGeom>
          <a:noFill/>
          <a:ln/>
        </p:spPr>
        <p:txBody>
          <a:bodyPr wrap="square" lIns="0" tIns="0" rIns="0" bIns="0" rtlCol="0" anchor="ctr"/>
          <a:lstStyle/>
          <a:p>
            <a:pPr marL="0" indent="0">
              <a:buNone/>
            </a:pPr>
            <a:r>
              <a:rPr lang="en-US" sz="1200" b="1" kern="0" spc="200" dirty="0">
                <a:solidFill>
                  <a:srgbClr val="7A8399"/>
                </a:solidFill>
                <a:latin typeface="Segoe UI" pitchFamily="34" charset="0"/>
                <a:ea typeface="Segoe UI" pitchFamily="34" charset="-122"/>
                <a:cs typeface="Segoe UI" pitchFamily="34" charset="-120"/>
              </a:rPr>
              <a:t>MAP · ROUTE</a:t>
            </a:r>
            <a:endParaRPr lang="en-US" sz="1200" dirty="0"/>
          </a:p>
        </p:txBody>
      </p:sp>
      <p:sp>
        <p:nvSpPr>
          <p:cNvPr id="11" name="Shape 9"/>
          <p:cNvSpPr/>
          <p:nvPr/>
        </p:nvSpPr>
        <p:spPr>
          <a:xfrm>
            <a:off x="2779776" y="3246120"/>
            <a:ext cx="1005840" cy="502920"/>
          </a:xfrm>
          <a:prstGeom prst="line">
            <a:avLst/>
          </a:prstGeom>
          <a:noFill/>
          <a:ln w="25400">
            <a:solidFill>
              <a:srgbClr val="EB6C36"/>
            </a:solidFill>
            <a:prstDash val="solid"/>
          </a:ln>
        </p:spPr>
        <p:txBody>
          <a:bodyPr/>
          <a:lstStyle/>
          <a:p>
            <a:endParaRPr/>
          </a:p>
        </p:txBody>
      </p:sp>
      <p:sp>
        <p:nvSpPr>
          <p:cNvPr id="12" name="Shape 10"/>
          <p:cNvSpPr/>
          <p:nvPr/>
        </p:nvSpPr>
        <p:spPr>
          <a:xfrm>
            <a:off x="3785616" y="3749040"/>
            <a:ext cx="1097280" cy="457200"/>
          </a:xfrm>
          <a:prstGeom prst="line">
            <a:avLst/>
          </a:prstGeom>
          <a:noFill/>
          <a:ln w="25400">
            <a:solidFill>
              <a:srgbClr val="EB6C36"/>
            </a:solidFill>
            <a:prstDash val="solid"/>
          </a:ln>
        </p:spPr>
        <p:txBody>
          <a:bodyPr/>
          <a:lstStyle/>
          <a:p>
            <a:endParaRPr/>
          </a:p>
        </p:txBody>
      </p:sp>
      <p:sp>
        <p:nvSpPr>
          <p:cNvPr id="13" name="Shape 11"/>
          <p:cNvSpPr/>
          <p:nvPr/>
        </p:nvSpPr>
        <p:spPr>
          <a:xfrm>
            <a:off x="2706624" y="3172968"/>
            <a:ext cx="146304" cy="146304"/>
          </a:xfrm>
          <a:prstGeom prst="ellipse">
            <a:avLst/>
          </a:prstGeom>
          <a:solidFill>
            <a:srgbClr val="2D3142"/>
          </a:solidFill>
          <a:ln/>
        </p:spPr>
        <p:txBody>
          <a:bodyPr/>
          <a:lstStyle/>
          <a:p>
            <a:endParaRPr/>
          </a:p>
        </p:txBody>
      </p:sp>
      <p:sp>
        <p:nvSpPr>
          <p:cNvPr id="14" name="Shape 12"/>
          <p:cNvSpPr/>
          <p:nvPr/>
        </p:nvSpPr>
        <p:spPr>
          <a:xfrm>
            <a:off x="3712464" y="3675888"/>
            <a:ext cx="146304" cy="146304"/>
          </a:xfrm>
          <a:prstGeom prst="ellipse">
            <a:avLst/>
          </a:prstGeom>
          <a:solidFill>
            <a:srgbClr val="2D3142"/>
          </a:solidFill>
          <a:ln/>
        </p:spPr>
        <p:txBody>
          <a:bodyPr/>
          <a:lstStyle/>
          <a:p>
            <a:endParaRPr/>
          </a:p>
        </p:txBody>
      </p:sp>
      <p:sp>
        <p:nvSpPr>
          <p:cNvPr id="15" name="Shape 13"/>
          <p:cNvSpPr/>
          <p:nvPr/>
        </p:nvSpPr>
        <p:spPr>
          <a:xfrm>
            <a:off x="4809744" y="4133088"/>
            <a:ext cx="146304" cy="146304"/>
          </a:xfrm>
          <a:prstGeom prst="ellipse">
            <a:avLst/>
          </a:prstGeom>
          <a:solidFill>
            <a:srgbClr val="2D3142"/>
          </a:solidFill>
          <a:ln/>
        </p:spPr>
        <p:txBody>
          <a:bodyPr/>
          <a:lstStyle/>
          <a:p>
            <a:endParaRPr/>
          </a:p>
        </p:txBody>
      </p:sp>
      <p:sp>
        <p:nvSpPr>
          <p:cNvPr id="16" name="Text 14"/>
          <p:cNvSpPr/>
          <p:nvPr/>
        </p:nvSpPr>
        <p:spPr>
          <a:xfrm>
            <a:off x="2432304" y="4434840"/>
            <a:ext cx="2926080" cy="548640"/>
          </a:xfrm>
          <a:prstGeom prst="rect">
            <a:avLst/>
          </a:prstGeom>
          <a:noFill/>
          <a:ln/>
        </p:spPr>
        <p:txBody>
          <a:bodyPr wrap="square" lIns="0" tIns="0" rIns="0" bIns="0" rtlCol="0" anchor="ctr"/>
          <a:lstStyle/>
          <a:p>
            <a:pPr marL="0" indent="0">
              <a:lnSpc>
                <a:spcPts val="1700"/>
              </a:lnSpc>
              <a:buNone/>
            </a:pPr>
            <a:r>
              <a:rPr lang="en-US" sz="1200" dirty="0">
                <a:solidFill>
                  <a:srgbClr val="4F5D75"/>
                </a:solidFill>
                <a:latin typeface="Segoe UI" pitchFamily="34" charset="0"/>
                <a:ea typeface="Segoe UI" pitchFamily="34" charset="-122"/>
                <a:cs typeface="Segoe UI" pitchFamily="34" charset="-120"/>
              </a:rPr>
              <a:t>TeamLab → lunch → cafe → Shibuya</a:t>
            </a:r>
            <a:endParaRPr lang="en-US" sz="1200" dirty="0"/>
          </a:p>
          <a:p>
            <a:pPr marL="0" indent="0">
              <a:lnSpc>
                <a:spcPts val="1700"/>
              </a:lnSpc>
              <a:buNone/>
            </a:pPr>
            <a:r>
              <a:rPr lang="en-US" sz="1200" dirty="0">
                <a:solidFill>
                  <a:srgbClr val="4F5D75"/>
                </a:solidFill>
                <a:latin typeface="Segoe UI" pitchFamily="34" charset="0"/>
                <a:ea typeface="Segoe UI" pitchFamily="34" charset="-122"/>
                <a:cs typeface="Segoe UI" pitchFamily="34" charset="-120"/>
              </a:rPr>
              <a:t>travel times rendered live</a:t>
            </a:r>
            <a:endParaRPr lang="en-US" sz="1200" dirty="0"/>
          </a:p>
        </p:txBody>
      </p:sp>
      <p:sp>
        <p:nvSpPr>
          <p:cNvPr id="17" name="Text 15"/>
          <p:cNvSpPr/>
          <p:nvPr/>
        </p:nvSpPr>
        <p:spPr>
          <a:xfrm>
            <a:off x="5632704" y="2624328"/>
            <a:ext cx="2011680" cy="237744"/>
          </a:xfrm>
          <a:prstGeom prst="rect">
            <a:avLst/>
          </a:prstGeom>
          <a:noFill/>
          <a:ln/>
        </p:spPr>
        <p:txBody>
          <a:bodyPr wrap="square" lIns="0" tIns="0" rIns="0" bIns="0" rtlCol="0" anchor="ctr"/>
          <a:lstStyle/>
          <a:p>
            <a:pPr marL="0" indent="0">
              <a:buNone/>
            </a:pPr>
            <a:r>
              <a:rPr lang="en-US" sz="1200" b="1" kern="0" spc="200" dirty="0">
                <a:solidFill>
                  <a:srgbClr val="7A8399"/>
                </a:solidFill>
                <a:latin typeface="Segoe UI" pitchFamily="34" charset="0"/>
                <a:ea typeface="Segoe UI" pitchFamily="34" charset="-122"/>
                <a:cs typeface="Segoe UI" pitchFamily="34" charset="-120"/>
              </a:rPr>
              <a:t>TRIPMATE AI</a:t>
            </a:r>
            <a:endParaRPr lang="en-US" sz="1200" dirty="0"/>
          </a:p>
        </p:txBody>
      </p:sp>
      <p:sp>
        <p:nvSpPr>
          <p:cNvPr id="18" name="Text 16"/>
          <p:cNvSpPr/>
          <p:nvPr/>
        </p:nvSpPr>
        <p:spPr>
          <a:xfrm>
            <a:off x="5632704" y="2971800"/>
            <a:ext cx="1975104" cy="274320"/>
          </a:xfrm>
          <a:prstGeom prst="rect">
            <a:avLst/>
          </a:prstGeom>
          <a:noFill/>
          <a:ln/>
        </p:spPr>
        <p:txBody>
          <a:bodyPr wrap="square" lIns="0" tIns="0" rIns="0" bIns="0" rtlCol="0" anchor="ctr"/>
          <a:lstStyle/>
          <a:p>
            <a:pPr marL="0" indent="0">
              <a:buNone/>
            </a:pPr>
            <a:r>
              <a:rPr lang="en-US" sz="1200" dirty="0">
                <a:solidFill>
                  <a:srgbClr val="2D3142"/>
                </a:solidFill>
                <a:latin typeface="Segoe UI" pitchFamily="34" charset="0"/>
                <a:ea typeface="Segoe UI" pitchFamily="34" charset="-122"/>
                <a:cs typeface="Segoe UI" pitchFamily="34" charset="-120"/>
              </a:rPr>
              <a:t>“Any ideas for Day 3?”</a:t>
            </a:r>
            <a:endParaRPr lang="en-US" sz="1200" dirty="0"/>
          </a:p>
        </p:txBody>
      </p:sp>
      <p:sp>
        <p:nvSpPr>
          <p:cNvPr id="19" name="Text 17"/>
          <p:cNvSpPr/>
          <p:nvPr/>
        </p:nvSpPr>
        <p:spPr>
          <a:xfrm>
            <a:off x="5632704" y="3355848"/>
            <a:ext cx="1975104" cy="457200"/>
          </a:xfrm>
          <a:prstGeom prst="rect">
            <a:avLst/>
          </a:prstGeom>
          <a:noFill/>
          <a:ln/>
        </p:spPr>
        <p:txBody>
          <a:bodyPr wrap="square" lIns="0" tIns="0" rIns="0" bIns="0" rtlCol="0" anchor="ctr"/>
          <a:lstStyle/>
          <a:p>
            <a:pPr marL="0" indent="0">
              <a:lnSpc>
                <a:spcPts val="1700"/>
              </a:lnSpc>
              <a:buNone/>
            </a:pPr>
            <a:r>
              <a:rPr lang="en-US" sz="1200" dirty="0">
                <a:solidFill>
                  <a:srgbClr val="4F5D75"/>
                </a:solidFill>
                <a:latin typeface="Segoe UI" pitchFamily="34" charset="0"/>
                <a:ea typeface="Segoe UI" pitchFamily="34" charset="-122"/>
                <a:cs typeface="Segoe UI" pitchFamily="34" charset="-120"/>
              </a:rPr>
              <a:t>Researching places near Odaiba…</a:t>
            </a:r>
            <a:endParaRPr lang="en-US" sz="1200" dirty="0"/>
          </a:p>
        </p:txBody>
      </p:sp>
      <p:sp>
        <p:nvSpPr>
          <p:cNvPr id="20" name="Shape 18"/>
          <p:cNvSpPr/>
          <p:nvPr/>
        </p:nvSpPr>
        <p:spPr>
          <a:xfrm>
            <a:off x="5632704" y="4014216"/>
            <a:ext cx="1975104" cy="914400"/>
          </a:xfrm>
          <a:prstGeom prst="rect">
            <a:avLst/>
          </a:prstGeom>
          <a:solidFill>
            <a:srgbClr val="FBEFE8"/>
          </a:solidFill>
          <a:ln w="12700">
            <a:solidFill>
              <a:srgbClr val="EB6C36"/>
            </a:solidFill>
            <a:prstDash val="solid"/>
          </a:ln>
        </p:spPr>
        <p:txBody>
          <a:bodyPr/>
          <a:lstStyle/>
          <a:p>
            <a:endParaRPr/>
          </a:p>
        </p:txBody>
      </p:sp>
      <p:sp>
        <p:nvSpPr>
          <p:cNvPr id="21" name="Text 19"/>
          <p:cNvSpPr/>
          <p:nvPr/>
        </p:nvSpPr>
        <p:spPr>
          <a:xfrm>
            <a:off x="5742432" y="4160520"/>
            <a:ext cx="1755648" cy="640080"/>
          </a:xfrm>
          <a:prstGeom prst="rect">
            <a:avLst/>
          </a:prstGeom>
          <a:noFill/>
          <a:ln/>
        </p:spPr>
        <p:txBody>
          <a:bodyPr wrap="square" lIns="0" tIns="0" rIns="0" bIns="0" rtlCol="0" anchor="ctr"/>
          <a:lstStyle/>
          <a:p>
            <a:pPr marL="0" indent="0">
              <a:lnSpc>
                <a:spcPts val="1700"/>
              </a:lnSpc>
              <a:buNone/>
            </a:pPr>
            <a:r>
              <a:rPr lang="en-US" sz="1200" b="1" dirty="0">
                <a:solidFill>
                  <a:srgbClr val="2D3142"/>
                </a:solidFill>
                <a:latin typeface="Segoe UI" pitchFamily="34" charset="0"/>
                <a:ea typeface="Segoe UI" pitchFamily="34" charset="-122"/>
                <a:cs typeface="Segoe UI" pitchFamily="34" charset="-120"/>
              </a:rPr>
              <a:t>Proposal: lighter Day 3</a:t>
            </a:r>
            <a:endParaRPr lang="en-US" sz="1200" dirty="0"/>
          </a:p>
          <a:p>
            <a:pPr marL="0" indent="0">
              <a:lnSpc>
                <a:spcPts val="1700"/>
              </a:lnSpc>
              <a:buNone/>
            </a:pPr>
            <a:r>
              <a:rPr lang="en-US" sz="1200" b="1" dirty="0">
                <a:solidFill>
                  <a:srgbClr val="2D3142"/>
                </a:solidFill>
                <a:latin typeface="Segoe UI" pitchFamily="34" charset="0"/>
                <a:ea typeface="Segoe UI" pitchFamily="34" charset="-122"/>
                <a:cs typeface="Segoe UI" pitchFamily="34" charset="-120"/>
              </a:rPr>
              <a:t>Vote open — 3/4 approved</a:t>
            </a:r>
            <a:endParaRPr lang="en-US" sz="1200" dirty="0"/>
          </a:p>
        </p:txBody>
      </p:sp>
      <p:sp>
        <p:nvSpPr>
          <p:cNvPr id="22" name="Shape 20"/>
          <p:cNvSpPr/>
          <p:nvPr/>
        </p:nvSpPr>
        <p:spPr>
          <a:xfrm>
            <a:off x="548640" y="5330952"/>
            <a:ext cx="7223760" cy="0"/>
          </a:xfrm>
          <a:prstGeom prst="line">
            <a:avLst/>
          </a:prstGeom>
          <a:noFill/>
          <a:ln w="12700">
            <a:solidFill>
              <a:srgbClr val="D9D9DE"/>
            </a:solidFill>
            <a:prstDash val="solid"/>
          </a:ln>
        </p:spPr>
        <p:txBody>
          <a:bodyPr/>
          <a:lstStyle/>
          <a:p>
            <a:endParaRPr/>
          </a:p>
        </p:txBody>
      </p:sp>
      <p:sp>
        <p:nvSpPr>
          <p:cNvPr id="23" name="Text 21"/>
          <p:cNvSpPr/>
          <p:nvPr/>
        </p:nvSpPr>
        <p:spPr>
          <a:xfrm>
            <a:off x="731520" y="5422392"/>
            <a:ext cx="6858000" cy="274320"/>
          </a:xfrm>
          <a:prstGeom prst="rect">
            <a:avLst/>
          </a:prstGeom>
          <a:noFill/>
          <a:ln/>
        </p:spPr>
        <p:txBody>
          <a:bodyPr wrap="square" lIns="0" tIns="0" rIns="0" bIns="0" rtlCol="0" anchor="ctr"/>
          <a:lstStyle/>
          <a:p>
            <a:pPr marL="0" indent="0">
              <a:buNone/>
            </a:pPr>
            <a:r>
              <a:rPr lang="en-US" sz="1200" dirty="0">
                <a:solidFill>
                  <a:srgbClr val="4F5D75"/>
                </a:solidFill>
                <a:latin typeface="Segoe UI" pitchFamily="34" charset="0"/>
                <a:ea typeface="Segoe UI" pitchFamily="34" charset="-122"/>
                <a:cs typeface="Segoe UI" pitchFamily="34" charset="-120"/>
              </a:rPr>
              <a:t>SMART ALERT: Rain on Day 3      ·      PENDING: 1 proposal      ·      ON BUDGET</a:t>
            </a:r>
            <a:endParaRPr lang="en-US" sz="1200" dirty="0"/>
          </a:p>
        </p:txBody>
      </p:sp>
      <p:sp>
        <p:nvSpPr>
          <p:cNvPr id="24" name="Shape 22"/>
          <p:cNvSpPr/>
          <p:nvPr/>
        </p:nvSpPr>
        <p:spPr>
          <a:xfrm>
            <a:off x="8183880" y="2331720"/>
            <a:ext cx="128016" cy="128016"/>
          </a:xfrm>
          <a:prstGeom prst="rect">
            <a:avLst/>
          </a:prstGeom>
          <a:solidFill>
            <a:srgbClr val="EB6C36"/>
          </a:solidFill>
          <a:ln/>
        </p:spPr>
        <p:txBody>
          <a:bodyPr/>
          <a:lstStyle/>
          <a:p>
            <a:endParaRPr/>
          </a:p>
        </p:txBody>
      </p:sp>
      <p:sp>
        <p:nvSpPr>
          <p:cNvPr id="25" name="Text 23"/>
          <p:cNvSpPr/>
          <p:nvPr/>
        </p:nvSpPr>
        <p:spPr>
          <a:xfrm>
            <a:off x="8458200" y="2286000"/>
            <a:ext cx="3154680" cy="274320"/>
          </a:xfrm>
          <a:prstGeom prst="rect">
            <a:avLst/>
          </a:prstGeom>
          <a:noFill/>
          <a:ln/>
        </p:spPr>
        <p:txBody>
          <a:bodyPr wrap="square" lIns="0" tIns="0" rIns="0" bIns="0" rtlCol="0" anchor="ctr"/>
          <a:lstStyle/>
          <a:p>
            <a:pPr marL="0" indent="0">
              <a:buNone/>
            </a:pPr>
            <a:r>
              <a:rPr lang="en-US" sz="1400" b="1" dirty="0">
                <a:solidFill>
                  <a:srgbClr val="2D3142"/>
                </a:solidFill>
                <a:latin typeface="Segoe UI" pitchFamily="34" charset="0"/>
                <a:ea typeface="Segoe UI" pitchFamily="34" charset="-122"/>
                <a:cs typeface="Segoe UI" pitchFamily="34" charset="-120"/>
              </a:rPr>
              <a:t>25 / 45 / 30</a:t>
            </a:r>
            <a:endParaRPr lang="en-US" sz="1400" dirty="0"/>
          </a:p>
        </p:txBody>
      </p:sp>
      <p:sp>
        <p:nvSpPr>
          <p:cNvPr id="26" name="Text 24"/>
          <p:cNvSpPr/>
          <p:nvPr/>
        </p:nvSpPr>
        <p:spPr>
          <a:xfrm>
            <a:off x="8458200" y="2596896"/>
            <a:ext cx="3154680" cy="914400"/>
          </a:xfrm>
          <a:prstGeom prst="rect">
            <a:avLst/>
          </a:prstGeom>
          <a:noFill/>
          <a:ln/>
        </p:spPr>
        <p:txBody>
          <a:bodyPr wrap="square" lIns="0" tIns="0" rIns="0" bIns="0" rtlCol="0" anchor="ctr"/>
          <a:lstStyle/>
          <a:p>
            <a:pPr marL="0" indent="0">
              <a:lnSpc>
                <a:spcPts val="1800"/>
              </a:lnSpc>
              <a:buNone/>
            </a:pPr>
            <a:r>
              <a:rPr lang="en-US" sz="1300" dirty="0">
                <a:solidFill>
                  <a:srgbClr val="4F5D75"/>
                </a:solidFill>
                <a:latin typeface="Segoe UI" pitchFamily="34" charset="0"/>
                <a:ea typeface="Segoe UI" pitchFamily="34" charset="-122"/>
                <a:cs typeface="Segoe UI" pitchFamily="34" charset="-120"/>
              </a:rPr>
              <a:t>The itinerary is the source of truth, the map is context, the AI is a teammate — sized accordingly.</a:t>
            </a:r>
            <a:endParaRPr lang="en-US" sz="1300" dirty="0"/>
          </a:p>
        </p:txBody>
      </p:sp>
      <p:sp>
        <p:nvSpPr>
          <p:cNvPr id="27" name="Shape 25"/>
          <p:cNvSpPr/>
          <p:nvPr/>
        </p:nvSpPr>
        <p:spPr>
          <a:xfrm>
            <a:off x="8183880" y="3703320"/>
            <a:ext cx="128016" cy="128016"/>
          </a:xfrm>
          <a:prstGeom prst="rect">
            <a:avLst/>
          </a:prstGeom>
          <a:solidFill>
            <a:srgbClr val="EB6C36"/>
          </a:solidFill>
          <a:ln/>
        </p:spPr>
        <p:txBody>
          <a:bodyPr/>
          <a:lstStyle/>
          <a:p>
            <a:endParaRPr/>
          </a:p>
        </p:txBody>
      </p:sp>
      <p:sp>
        <p:nvSpPr>
          <p:cNvPr id="28" name="Text 26"/>
          <p:cNvSpPr/>
          <p:nvPr/>
        </p:nvSpPr>
        <p:spPr>
          <a:xfrm>
            <a:off x="8458200" y="3657600"/>
            <a:ext cx="3154680" cy="274320"/>
          </a:xfrm>
          <a:prstGeom prst="rect">
            <a:avLst/>
          </a:prstGeom>
          <a:noFill/>
          <a:ln/>
        </p:spPr>
        <p:txBody>
          <a:bodyPr wrap="square" lIns="0" tIns="0" rIns="0" bIns="0" rtlCol="0" anchor="ctr"/>
          <a:lstStyle/>
          <a:p>
            <a:pPr marL="0" indent="0">
              <a:buNone/>
            </a:pPr>
            <a:r>
              <a:rPr lang="en-US" sz="1400" b="1" dirty="0">
                <a:solidFill>
                  <a:srgbClr val="2D3142"/>
                </a:solidFill>
                <a:latin typeface="Segoe UI" pitchFamily="34" charset="0"/>
                <a:ea typeface="Segoe UI" pitchFamily="34" charset="-122"/>
                <a:cs typeface="Segoe UI" pitchFamily="34" charset="-120"/>
              </a:rPr>
              <a:t>Decisions surface</a:t>
            </a:r>
            <a:endParaRPr lang="en-US" sz="1400" dirty="0"/>
          </a:p>
        </p:txBody>
      </p:sp>
      <p:sp>
        <p:nvSpPr>
          <p:cNvPr id="29" name="Text 27"/>
          <p:cNvSpPr/>
          <p:nvPr/>
        </p:nvSpPr>
        <p:spPr>
          <a:xfrm>
            <a:off x="8458200" y="3968496"/>
            <a:ext cx="3154680" cy="914400"/>
          </a:xfrm>
          <a:prstGeom prst="rect">
            <a:avLst/>
          </a:prstGeom>
          <a:noFill/>
          <a:ln/>
        </p:spPr>
        <p:txBody>
          <a:bodyPr wrap="square" lIns="0" tIns="0" rIns="0" bIns="0" rtlCol="0" anchor="ctr"/>
          <a:lstStyle/>
          <a:p>
            <a:pPr marL="0" indent="0">
              <a:lnSpc>
                <a:spcPts val="1800"/>
              </a:lnSpc>
              <a:buNone/>
            </a:pPr>
            <a:r>
              <a:rPr lang="en-US" sz="1300" dirty="0">
                <a:solidFill>
                  <a:srgbClr val="4F5D75"/>
                </a:solidFill>
                <a:latin typeface="Segoe UI" pitchFamily="34" charset="0"/>
                <a:ea typeface="Segoe UI" pitchFamily="34" charset="-122"/>
                <a:cs typeface="Segoe UI" pitchFamily="34" charset="-120"/>
              </a:rPr>
              <a:t>Alerts, pending votes, and budget sit in a persistent bar — nothing needs hunting.</a:t>
            </a:r>
            <a:endParaRPr lang="en-US" sz="1300" dirty="0"/>
          </a:p>
        </p:txBody>
      </p:sp>
      <p:sp>
        <p:nvSpPr>
          <p:cNvPr id="30" name="Text 28"/>
          <p:cNvSpPr/>
          <p:nvPr/>
        </p:nvSpPr>
        <p:spPr>
          <a:xfrm>
            <a:off x="8183880" y="5349240"/>
            <a:ext cx="3429000" cy="502920"/>
          </a:xfrm>
          <a:prstGeom prst="rect">
            <a:avLst/>
          </a:prstGeom>
          <a:noFill/>
          <a:ln/>
        </p:spPr>
        <p:txBody>
          <a:bodyPr wrap="square" lIns="0" tIns="0" rIns="0" bIns="0" rtlCol="0" anchor="ctr"/>
          <a:lstStyle/>
          <a:p>
            <a:pPr marL="0" indent="0">
              <a:lnSpc>
                <a:spcPts val="1600"/>
              </a:lnSpc>
              <a:buNone/>
            </a:pPr>
            <a:r>
              <a:rPr lang="en-US" sz="1200" dirty="0">
                <a:solidFill>
                  <a:srgbClr val="7A8399"/>
                </a:solidFill>
                <a:latin typeface="Segoe UI" pitchFamily="34" charset="0"/>
                <a:ea typeface="Segoe UI" pitchFamily="34" charset="-122"/>
                <a:cs typeface="Segoe UI" pitchFamily="34" charset="-120"/>
              </a:rPr>
              <a:t>UI mock — final screens ship as a clickable Figma prototype</a:t>
            </a:r>
            <a:endParaRPr lang="en-US" sz="1200" dirty="0"/>
          </a:p>
        </p:txBody>
      </p:sp>
      <p:sp>
        <p:nvSpPr>
          <p:cNvPr id="31" name="Text 29"/>
          <p:cNvSpPr/>
          <p:nvPr/>
        </p:nvSpPr>
        <p:spPr>
          <a:xfrm>
            <a:off x="11274552" y="6382512"/>
            <a:ext cx="457200" cy="274320"/>
          </a:xfrm>
          <a:prstGeom prst="rect">
            <a:avLst/>
          </a:prstGeom>
          <a:noFill/>
          <a:ln/>
        </p:spPr>
        <p:txBody>
          <a:bodyPr wrap="square" lIns="0" tIns="0" rIns="0" bIns="0" rtlCol="0" anchor="ctr"/>
          <a:lstStyle/>
          <a:p>
            <a:pPr marL="0" indent="0" algn="r">
              <a:buNone/>
            </a:pPr>
            <a:r>
              <a:rPr lang="en-US" sz="1200" dirty="0">
                <a:solidFill>
                  <a:srgbClr val="7A8399"/>
                </a:solidFill>
                <a:latin typeface="Segoe UI" pitchFamily="34" charset="0"/>
                <a:ea typeface="Segoe UI" pitchFamily="34" charset="-122"/>
                <a:cs typeface="Segoe UI"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548640" y="475488"/>
            <a:ext cx="8229600" cy="292608"/>
          </a:xfrm>
          <a:prstGeom prst="rect">
            <a:avLst/>
          </a:prstGeom>
          <a:noFill/>
          <a:ln/>
        </p:spPr>
        <p:txBody>
          <a:bodyPr wrap="square" lIns="0" tIns="0" rIns="0" bIns="0" rtlCol="0" anchor="ctr"/>
          <a:lstStyle/>
          <a:p>
            <a:pPr marL="0" indent="0">
              <a:buNone/>
            </a:pPr>
            <a:r>
              <a:rPr lang="en-US" sz="1200" b="1" kern="0" spc="400" dirty="0">
                <a:solidFill>
                  <a:srgbClr val="4F5D75"/>
                </a:solidFill>
                <a:latin typeface="Segoe UI" pitchFamily="34" charset="0"/>
                <a:ea typeface="Segoe UI" pitchFamily="34" charset="-122"/>
                <a:cs typeface="Segoe UI" pitchFamily="34" charset="-120"/>
              </a:rPr>
              <a:t>DEMO · 2 — AI RECOMMENDATIONS</a:t>
            </a:r>
            <a:endParaRPr lang="en-US" sz="1200" dirty="0"/>
          </a:p>
        </p:txBody>
      </p:sp>
      <p:sp>
        <p:nvSpPr>
          <p:cNvPr id="3" name="Text 1"/>
          <p:cNvSpPr/>
          <p:nvPr/>
        </p:nvSpPr>
        <p:spPr>
          <a:xfrm>
            <a:off x="548640" y="841248"/>
            <a:ext cx="11091672" cy="914400"/>
          </a:xfrm>
          <a:prstGeom prst="rect">
            <a:avLst/>
          </a:prstGeom>
          <a:noFill/>
          <a:ln/>
        </p:spPr>
        <p:txBody>
          <a:bodyPr wrap="square" lIns="0" tIns="0" rIns="0" bIns="0" rtlCol="0" anchor="ctr"/>
          <a:lstStyle/>
          <a:p>
            <a:pPr marL="0" indent="0">
              <a:buNone/>
            </a:pPr>
            <a:r>
              <a:rPr lang="en-US" sz="2800" dirty="0">
                <a:solidFill>
                  <a:srgbClr val="2D3142"/>
                </a:solidFill>
                <a:latin typeface="Georgia" pitchFamily="34" charset="0"/>
                <a:ea typeface="Georgia" pitchFamily="34" charset="-122"/>
                <a:cs typeface="Georgia" pitchFamily="34" charset="-120"/>
              </a:rPr>
              <a:t>Scored for this group, not for popularity</a:t>
            </a:r>
            <a:endParaRPr lang="en-US" sz="2800" dirty="0"/>
          </a:p>
        </p:txBody>
      </p:sp>
      <p:sp>
        <p:nvSpPr>
          <p:cNvPr id="4" name="Shape 2"/>
          <p:cNvSpPr/>
          <p:nvPr/>
        </p:nvSpPr>
        <p:spPr>
          <a:xfrm>
            <a:off x="548640" y="1965960"/>
            <a:ext cx="4297680" cy="4261104"/>
          </a:xfrm>
          <a:prstGeom prst="rect">
            <a:avLst/>
          </a:prstGeom>
          <a:solidFill>
            <a:srgbClr val="FFFFFF"/>
          </a:solidFill>
          <a:ln w="12700">
            <a:solidFill>
              <a:srgbClr val="2D3142"/>
            </a:solidFill>
            <a:prstDash val="solid"/>
          </a:ln>
        </p:spPr>
        <p:txBody>
          <a:bodyPr/>
          <a:lstStyle/>
          <a:p>
            <a:endParaRPr/>
          </a:p>
        </p:txBody>
      </p:sp>
      <p:sp>
        <p:nvSpPr>
          <p:cNvPr id="5" name="Text 3"/>
          <p:cNvSpPr/>
          <p:nvPr/>
        </p:nvSpPr>
        <p:spPr>
          <a:xfrm>
            <a:off x="777240" y="2167128"/>
            <a:ext cx="3840480" cy="274320"/>
          </a:xfrm>
          <a:prstGeom prst="rect">
            <a:avLst/>
          </a:prstGeom>
          <a:noFill/>
          <a:ln/>
        </p:spPr>
        <p:txBody>
          <a:bodyPr wrap="square" lIns="0" tIns="0" rIns="0" bIns="0" rtlCol="0" anchor="ctr"/>
          <a:lstStyle/>
          <a:p>
            <a:pPr marL="0" indent="0">
              <a:buNone/>
            </a:pPr>
            <a:r>
              <a:rPr lang="en-US" sz="1400" b="1" kern="0" spc="100" dirty="0">
                <a:solidFill>
                  <a:srgbClr val="2D3142"/>
                </a:solidFill>
                <a:latin typeface="Segoe UI" pitchFamily="34" charset="0"/>
                <a:ea typeface="Segoe UI" pitchFamily="34" charset="-122"/>
                <a:cs typeface="Segoe UI" pitchFamily="34" charset="-120"/>
              </a:rPr>
              <a:t>TEAMLAB BORDERLESS</a:t>
            </a:r>
            <a:endParaRPr lang="en-US" sz="1400" dirty="0"/>
          </a:p>
        </p:txBody>
      </p:sp>
      <p:sp>
        <p:nvSpPr>
          <p:cNvPr id="6" name="Text 4"/>
          <p:cNvSpPr/>
          <p:nvPr/>
        </p:nvSpPr>
        <p:spPr>
          <a:xfrm>
            <a:off x="777240" y="2468880"/>
            <a:ext cx="3840480" cy="685800"/>
          </a:xfrm>
          <a:prstGeom prst="rect">
            <a:avLst/>
          </a:prstGeom>
          <a:noFill/>
          <a:ln/>
        </p:spPr>
        <p:txBody>
          <a:bodyPr wrap="square" lIns="0" tIns="0" rIns="0" bIns="0" rtlCol="0" anchor="ctr"/>
          <a:lstStyle/>
          <a:p>
            <a:pPr marL="0" indent="0">
              <a:buNone/>
            </a:pPr>
            <a:r>
              <a:rPr lang="en-US" sz="4400" dirty="0">
                <a:solidFill>
                  <a:srgbClr val="EB6C36"/>
                </a:solidFill>
                <a:latin typeface="Georgia" pitchFamily="34" charset="0"/>
                <a:ea typeface="Georgia" pitchFamily="34" charset="-122"/>
                <a:cs typeface="Georgia" pitchFamily="34" charset="-120"/>
              </a:rPr>
              <a:t>91</a:t>
            </a:r>
            <a:r>
              <a:rPr lang="en-US" sz="1200" dirty="0">
                <a:solidFill>
                  <a:srgbClr val="7A8399"/>
                </a:solidFill>
                <a:latin typeface="Segoe UI" pitchFamily="34" charset="0"/>
                <a:ea typeface="Segoe UI" pitchFamily="34" charset="-122"/>
                <a:cs typeface="Segoe UI" pitchFamily="34" charset="-120"/>
              </a:rPr>
              <a:t>  / 100 · AI recommendation</a:t>
            </a:r>
            <a:endParaRPr lang="en-US" sz="4400" dirty="0"/>
          </a:p>
        </p:txBody>
      </p:sp>
      <p:sp>
        <p:nvSpPr>
          <p:cNvPr id="7" name="Text 5"/>
          <p:cNvSpPr/>
          <p:nvPr/>
        </p:nvSpPr>
        <p:spPr>
          <a:xfrm>
            <a:off x="777240" y="3255264"/>
            <a:ext cx="1234440" cy="256032"/>
          </a:xfrm>
          <a:prstGeom prst="rect">
            <a:avLst/>
          </a:prstGeom>
          <a:noFill/>
          <a:ln/>
        </p:spPr>
        <p:txBody>
          <a:bodyPr wrap="square" lIns="0" tIns="0" rIns="0" bIns="0" rtlCol="0" anchor="ctr"/>
          <a:lstStyle/>
          <a:p>
            <a:pPr marL="0" indent="0">
              <a:buNone/>
            </a:pPr>
            <a:r>
              <a:rPr lang="en-US" sz="1200" dirty="0">
                <a:solidFill>
                  <a:srgbClr val="2D3142"/>
                </a:solidFill>
                <a:latin typeface="Segoe UI" pitchFamily="34" charset="0"/>
                <a:ea typeface="Segoe UI" pitchFamily="34" charset="-122"/>
                <a:cs typeface="Segoe UI" pitchFamily="34" charset="-120"/>
              </a:rPr>
              <a:t>Group Fit</a:t>
            </a:r>
            <a:endParaRPr lang="en-US" sz="1200" dirty="0"/>
          </a:p>
        </p:txBody>
      </p:sp>
      <p:sp>
        <p:nvSpPr>
          <p:cNvPr id="8" name="Shape 6"/>
          <p:cNvSpPr/>
          <p:nvPr/>
        </p:nvSpPr>
        <p:spPr>
          <a:xfrm>
            <a:off x="2103120" y="3310128"/>
            <a:ext cx="1920240" cy="146304"/>
          </a:xfrm>
          <a:prstGeom prst="rect">
            <a:avLst/>
          </a:prstGeom>
          <a:solidFill>
            <a:srgbClr val="D9D9DE"/>
          </a:solidFill>
          <a:ln/>
        </p:spPr>
        <p:txBody>
          <a:bodyPr/>
          <a:lstStyle/>
          <a:p>
            <a:endParaRPr/>
          </a:p>
        </p:txBody>
      </p:sp>
      <p:sp>
        <p:nvSpPr>
          <p:cNvPr id="9" name="Shape 7"/>
          <p:cNvSpPr/>
          <p:nvPr/>
        </p:nvSpPr>
        <p:spPr>
          <a:xfrm>
            <a:off x="2103120" y="3310128"/>
            <a:ext cx="1805026" cy="146304"/>
          </a:xfrm>
          <a:prstGeom prst="rect">
            <a:avLst/>
          </a:prstGeom>
          <a:solidFill>
            <a:srgbClr val="4F5D75"/>
          </a:solidFill>
          <a:ln/>
        </p:spPr>
        <p:txBody>
          <a:bodyPr/>
          <a:lstStyle/>
          <a:p>
            <a:endParaRPr/>
          </a:p>
        </p:txBody>
      </p:sp>
      <p:sp>
        <p:nvSpPr>
          <p:cNvPr id="10" name="Text 8"/>
          <p:cNvSpPr/>
          <p:nvPr/>
        </p:nvSpPr>
        <p:spPr>
          <a:xfrm>
            <a:off x="4114800" y="3255264"/>
            <a:ext cx="502920" cy="256032"/>
          </a:xfrm>
          <a:prstGeom prst="rect">
            <a:avLst/>
          </a:prstGeom>
          <a:noFill/>
          <a:ln/>
        </p:spPr>
        <p:txBody>
          <a:bodyPr wrap="square" lIns="0" tIns="0" rIns="0" bIns="0" rtlCol="0" anchor="ctr"/>
          <a:lstStyle/>
          <a:p>
            <a:pPr marL="0" indent="0">
              <a:buNone/>
            </a:pPr>
            <a:r>
              <a:rPr lang="en-US" sz="1200" dirty="0">
                <a:solidFill>
                  <a:srgbClr val="4F5D75"/>
                </a:solidFill>
                <a:latin typeface="Segoe UI" pitchFamily="34" charset="0"/>
                <a:ea typeface="Segoe UI" pitchFamily="34" charset="-122"/>
                <a:cs typeface="Segoe UI" pitchFamily="34" charset="-120"/>
              </a:rPr>
              <a:t>94</a:t>
            </a:r>
            <a:endParaRPr lang="en-US" sz="1200" dirty="0"/>
          </a:p>
        </p:txBody>
      </p:sp>
      <p:sp>
        <p:nvSpPr>
          <p:cNvPr id="11" name="Text 9"/>
          <p:cNvSpPr/>
          <p:nvPr/>
        </p:nvSpPr>
        <p:spPr>
          <a:xfrm>
            <a:off x="777240" y="3639312"/>
            <a:ext cx="1234440" cy="256032"/>
          </a:xfrm>
          <a:prstGeom prst="rect">
            <a:avLst/>
          </a:prstGeom>
          <a:noFill/>
          <a:ln/>
        </p:spPr>
        <p:txBody>
          <a:bodyPr wrap="square" lIns="0" tIns="0" rIns="0" bIns="0" rtlCol="0" anchor="ctr"/>
          <a:lstStyle/>
          <a:p>
            <a:pPr marL="0" indent="0">
              <a:buNone/>
            </a:pPr>
            <a:r>
              <a:rPr lang="en-US" sz="1200" dirty="0">
                <a:solidFill>
                  <a:srgbClr val="2D3142"/>
                </a:solidFill>
                <a:latin typeface="Segoe UI" pitchFamily="34" charset="0"/>
                <a:ea typeface="Segoe UI" pitchFamily="34" charset="-122"/>
                <a:cs typeface="Segoe UI" pitchFamily="34" charset="-120"/>
              </a:rPr>
              <a:t>Experience</a:t>
            </a:r>
            <a:endParaRPr lang="en-US" sz="1200" dirty="0"/>
          </a:p>
        </p:txBody>
      </p:sp>
      <p:sp>
        <p:nvSpPr>
          <p:cNvPr id="12" name="Shape 10"/>
          <p:cNvSpPr/>
          <p:nvPr/>
        </p:nvSpPr>
        <p:spPr>
          <a:xfrm>
            <a:off x="2103120" y="3694176"/>
            <a:ext cx="1920240" cy="146304"/>
          </a:xfrm>
          <a:prstGeom prst="rect">
            <a:avLst/>
          </a:prstGeom>
          <a:solidFill>
            <a:srgbClr val="D9D9DE"/>
          </a:solidFill>
          <a:ln/>
        </p:spPr>
        <p:txBody>
          <a:bodyPr/>
          <a:lstStyle/>
          <a:p>
            <a:endParaRPr/>
          </a:p>
        </p:txBody>
      </p:sp>
      <p:sp>
        <p:nvSpPr>
          <p:cNvPr id="13" name="Shape 11"/>
          <p:cNvSpPr/>
          <p:nvPr/>
        </p:nvSpPr>
        <p:spPr>
          <a:xfrm>
            <a:off x="2103120" y="3694176"/>
            <a:ext cx="1766621" cy="146304"/>
          </a:xfrm>
          <a:prstGeom prst="rect">
            <a:avLst/>
          </a:prstGeom>
          <a:solidFill>
            <a:srgbClr val="4F5D75"/>
          </a:solidFill>
          <a:ln/>
        </p:spPr>
        <p:txBody>
          <a:bodyPr/>
          <a:lstStyle/>
          <a:p>
            <a:endParaRPr/>
          </a:p>
        </p:txBody>
      </p:sp>
      <p:sp>
        <p:nvSpPr>
          <p:cNvPr id="14" name="Text 12"/>
          <p:cNvSpPr/>
          <p:nvPr/>
        </p:nvSpPr>
        <p:spPr>
          <a:xfrm>
            <a:off x="4114800" y="3639312"/>
            <a:ext cx="502920" cy="256032"/>
          </a:xfrm>
          <a:prstGeom prst="rect">
            <a:avLst/>
          </a:prstGeom>
          <a:noFill/>
          <a:ln/>
        </p:spPr>
        <p:txBody>
          <a:bodyPr wrap="square" lIns="0" tIns="0" rIns="0" bIns="0" rtlCol="0" anchor="ctr"/>
          <a:lstStyle/>
          <a:p>
            <a:pPr marL="0" indent="0">
              <a:buNone/>
            </a:pPr>
            <a:r>
              <a:rPr lang="en-US" sz="1200" dirty="0">
                <a:solidFill>
                  <a:srgbClr val="4F5D75"/>
                </a:solidFill>
                <a:latin typeface="Segoe UI" pitchFamily="34" charset="0"/>
                <a:ea typeface="Segoe UI" pitchFamily="34" charset="-122"/>
                <a:cs typeface="Segoe UI" pitchFamily="34" charset="-120"/>
              </a:rPr>
              <a:t>92</a:t>
            </a:r>
            <a:endParaRPr lang="en-US" sz="1200" dirty="0"/>
          </a:p>
        </p:txBody>
      </p:sp>
      <p:sp>
        <p:nvSpPr>
          <p:cNvPr id="15" name="Text 13"/>
          <p:cNvSpPr/>
          <p:nvPr/>
        </p:nvSpPr>
        <p:spPr>
          <a:xfrm>
            <a:off x="777240" y="4023360"/>
            <a:ext cx="1234440" cy="256032"/>
          </a:xfrm>
          <a:prstGeom prst="rect">
            <a:avLst/>
          </a:prstGeom>
          <a:noFill/>
          <a:ln/>
        </p:spPr>
        <p:txBody>
          <a:bodyPr wrap="square" lIns="0" tIns="0" rIns="0" bIns="0" rtlCol="0" anchor="ctr"/>
          <a:lstStyle/>
          <a:p>
            <a:pPr marL="0" indent="0">
              <a:buNone/>
            </a:pPr>
            <a:r>
              <a:rPr lang="en-US" sz="1200" dirty="0">
                <a:solidFill>
                  <a:srgbClr val="2D3142"/>
                </a:solidFill>
                <a:latin typeface="Segoe UI" pitchFamily="34" charset="0"/>
                <a:ea typeface="Segoe UI" pitchFamily="34" charset="-122"/>
                <a:cs typeface="Segoe UI" pitchFamily="34" charset="-120"/>
              </a:rPr>
              <a:t>Convenience</a:t>
            </a:r>
            <a:endParaRPr lang="en-US" sz="1200" dirty="0"/>
          </a:p>
        </p:txBody>
      </p:sp>
      <p:sp>
        <p:nvSpPr>
          <p:cNvPr id="16" name="Shape 14"/>
          <p:cNvSpPr/>
          <p:nvPr/>
        </p:nvSpPr>
        <p:spPr>
          <a:xfrm>
            <a:off x="2103120" y="4078224"/>
            <a:ext cx="1920240" cy="146304"/>
          </a:xfrm>
          <a:prstGeom prst="rect">
            <a:avLst/>
          </a:prstGeom>
          <a:solidFill>
            <a:srgbClr val="D9D9DE"/>
          </a:solidFill>
          <a:ln/>
        </p:spPr>
        <p:txBody>
          <a:bodyPr/>
          <a:lstStyle/>
          <a:p>
            <a:endParaRPr/>
          </a:p>
        </p:txBody>
      </p:sp>
      <p:sp>
        <p:nvSpPr>
          <p:cNvPr id="17" name="Shape 15"/>
          <p:cNvSpPr/>
          <p:nvPr/>
        </p:nvSpPr>
        <p:spPr>
          <a:xfrm>
            <a:off x="2103120" y="4078224"/>
            <a:ext cx="1728216" cy="146304"/>
          </a:xfrm>
          <a:prstGeom prst="rect">
            <a:avLst/>
          </a:prstGeom>
          <a:solidFill>
            <a:srgbClr val="4F5D75"/>
          </a:solidFill>
          <a:ln/>
        </p:spPr>
        <p:txBody>
          <a:bodyPr/>
          <a:lstStyle/>
          <a:p>
            <a:endParaRPr/>
          </a:p>
        </p:txBody>
      </p:sp>
      <p:sp>
        <p:nvSpPr>
          <p:cNvPr id="18" name="Text 16"/>
          <p:cNvSpPr/>
          <p:nvPr/>
        </p:nvSpPr>
        <p:spPr>
          <a:xfrm>
            <a:off x="4114800" y="4023360"/>
            <a:ext cx="502920" cy="256032"/>
          </a:xfrm>
          <a:prstGeom prst="rect">
            <a:avLst/>
          </a:prstGeom>
          <a:noFill/>
          <a:ln/>
        </p:spPr>
        <p:txBody>
          <a:bodyPr wrap="square" lIns="0" tIns="0" rIns="0" bIns="0" rtlCol="0" anchor="ctr"/>
          <a:lstStyle/>
          <a:p>
            <a:pPr marL="0" indent="0">
              <a:buNone/>
            </a:pPr>
            <a:r>
              <a:rPr lang="en-US" sz="1200" dirty="0">
                <a:solidFill>
                  <a:srgbClr val="4F5D75"/>
                </a:solidFill>
                <a:latin typeface="Segoe UI" pitchFamily="34" charset="0"/>
                <a:ea typeface="Segoe UI" pitchFamily="34" charset="-122"/>
                <a:cs typeface="Segoe UI" pitchFamily="34" charset="-120"/>
              </a:rPr>
              <a:t>90</a:t>
            </a:r>
            <a:endParaRPr lang="en-US" sz="1200" dirty="0"/>
          </a:p>
        </p:txBody>
      </p:sp>
      <p:sp>
        <p:nvSpPr>
          <p:cNvPr id="19" name="Text 17"/>
          <p:cNvSpPr/>
          <p:nvPr/>
        </p:nvSpPr>
        <p:spPr>
          <a:xfrm>
            <a:off x="777240" y="4407408"/>
            <a:ext cx="1234440" cy="256032"/>
          </a:xfrm>
          <a:prstGeom prst="rect">
            <a:avLst/>
          </a:prstGeom>
          <a:noFill/>
          <a:ln/>
        </p:spPr>
        <p:txBody>
          <a:bodyPr wrap="square" lIns="0" tIns="0" rIns="0" bIns="0" rtlCol="0" anchor="ctr"/>
          <a:lstStyle/>
          <a:p>
            <a:pPr marL="0" indent="0">
              <a:buNone/>
            </a:pPr>
            <a:r>
              <a:rPr lang="en-US" sz="1200" dirty="0">
                <a:solidFill>
                  <a:srgbClr val="2D3142"/>
                </a:solidFill>
                <a:latin typeface="Segoe UI" pitchFamily="34" charset="0"/>
                <a:ea typeface="Segoe UI" pitchFamily="34" charset="-122"/>
                <a:cs typeface="Segoe UI" pitchFamily="34" charset="-120"/>
              </a:rPr>
              <a:t>Reliability</a:t>
            </a:r>
            <a:endParaRPr lang="en-US" sz="1200" dirty="0"/>
          </a:p>
        </p:txBody>
      </p:sp>
      <p:sp>
        <p:nvSpPr>
          <p:cNvPr id="20" name="Shape 18"/>
          <p:cNvSpPr/>
          <p:nvPr/>
        </p:nvSpPr>
        <p:spPr>
          <a:xfrm>
            <a:off x="2103120" y="4462272"/>
            <a:ext cx="1920240" cy="146304"/>
          </a:xfrm>
          <a:prstGeom prst="rect">
            <a:avLst/>
          </a:prstGeom>
          <a:solidFill>
            <a:srgbClr val="D9D9DE"/>
          </a:solidFill>
          <a:ln/>
        </p:spPr>
        <p:txBody>
          <a:bodyPr/>
          <a:lstStyle/>
          <a:p>
            <a:endParaRPr/>
          </a:p>
        </p:txBody>
      </p:sp>
      <p:sp>
        <p:nvSpPr>
          <p:cNvPr id="21" name="Shape 19"/>
          <p:cNvSpPr/>
          <p:nvPr/>
        </p:nvSpPr>
        <p:spPr>
          <a:xfrm>
            <a:off x="2103120" y="4462272"/>
            <a:ext cx="1747418" cy="146304"/>
          </a:xfrm>
          <a:prstGeom prst="rect">
            <a:avLst/>
          </a:prstGeom>
          <a:solidFill>
            <a:srgbClr val="4F5D75"/>
          </a:solidFill>
          <a:ln/>
        </p:spPr>
        <p:txBody>
          <a:bodyPr/>
          <a:lstStyle/>
          <a:p>
            <a:endParaRPr/>
          </a:p>
        </p:txBody>
      </p:sp>
      <p:sp>
        <p:nvSpPr>
          <p:cNvPr id="22" name="Text 20"/>
          <p:cNvSpPr/>
          <p:nvPr/>
        </p:nvSpPr>
        <p:spPr>
          <a:xfrm>
            <a:off x="4114800" y="4407408"/>
            <a:ext cx="502920" cy="256032"/>
          </a:xfrm>
          <a:prstGeom prst="rect">
            <a:avLst/>
          </a:prstGeom>
          <a:noFill/>
          <a:ln/>
        </p:spPr>
        <p:txBody>
          <a:bodyPr wrap="square" lIns="0" tIns="0" rIns="0" bIns="0" rtlCol="0" anchor="ctr"/>
          <a:lstStyle/>
          <a:p>
            <a:pPr marL="0" indent="0">
              <a:buNone/>
            </a:pPr>
            <a:r>
              <a:rPr lang="en-US" sz="1200" dirty="0">
                <a:solidFill>
                  <a:srgbClr val="4F5D75"/>
                </a:solidFill>
                <a:latin typeface="Segoe UI" pitchFamily="34" charset="0"/>
                <a:ea typeface="Segoe UI" pitchFamily="34" charset="-122"/>
                <a:cs typeface="Segoe UI" pitchFamily="34" charset="-120"/>
              </a:rPr>
              <a:t>91</a:t>
            </a:r>
            <a:endParaRPr lang="en-US" sz="1200" dirty="0"/>
          </a:p>
        </p:txBody>
      </p:sp>
      <p:sp>
        <p:nvSpPr>
          <p:cNvPr id="23" name="Text 21"/>
          <p:cNvSpPr/>
          <p:nvPr/>
        </p:nvSpPr>
        <p:spPr>
          <a:xfrm>
            <a:off x="777240" y="4791456"/>
            <a:ext cx="1234440" cy="256032"/>
          </a:xfrm>
          <a:prstGeom prst="rect">
            <a:avLst/>
          </a:prstGeom>
          <a:noFill/>
          <a:ln/>
        </p:spPr>
        <p:txBody>
          <a:bodyPr wrap="square" lIns="0" tIns="0" rIns="0" bIns="0" rtlCol="0" anchor="ctr"/>
          <a:lstStyle/>
          <a:p>
            <a:pPr marL="0" indent="0">
              <a:buNone/>
            </a:pPr>
            <a:r>
              <a:rPr lang="en-US" sz="1200" dirty="0">
                <a:solidFill>
                  <a:srgbClr val="2D3142"/>
                </a:solidFill>
                <a:latin typeface="Segoe UI" pitchFamily="34" charset="0"/>
                <a:ea typeface="Segoe UI" pitchFamily="34" charset="-122"/>
                <a:cs typeface="Segoe UI" pitchFamily="34" charset="-120"/>
              </a:rPr>
              <a:t>Cost</a:t>
            </a:r>
            <a:endParaRPr lang="en-US" sz="1200" dirty="0"/>
          </a:p>
        </p:txBody>
      </p:sp>
      <p:sp>
        <p:nvSpPr>
          <p:cNvPr id="24" name="Shape 22"/>
          <p:cNvSpPr/>
          <p:nvPr/>
        </p:nvSpPr>
        <p:spPr>
          <a:xfrm>
            <a:off x="2103120" y="4846320"/>
            <a:ext cx="1920240" cy="146304"/>
          </a:xfrm>
          <a:prstGeom prst="rect">
            <a:avLst/>
          </a:prstGeom>
          <a:solidFill>
            <a:srgbClr val="D9D9DE"/>
          </a:solidFill>
          <a:ln/>
        </p:spPr>
        <p:txBody>
          <a:bodyPr/>
          <a:lstStyle/>
          <a:p>
            <a:endParaRPr/>
          </a:p>
        </p:txBody>
      </p:sp>
      <p:sp>
        <p:nvSpPr>
          <p:cNvPr id="25" name="Shape 23"/>
          <p:cNvSpPr/>
          <p:nvPr/>
        </p:nvSpPr>
        <p:spPr>
          <a:xfrm>
            <a:off x="2103120" y="4846320"/>
            <a:ext cx="1497787" cy="146304"/>
          </a:xfrm>
          <a:prstGeom prst="rect">
            <a:avLst/>
          </a:prstGeom>
          <a:solidFill>
            <a:srgbClr val="4F5D75"/>
          </a:solidFill>
          <a:ln/>
        </p:spPr>
        <p:txBody>
          <a:bodyPr/>
          <a:lstStyle/>
          <a:p>
            <a:endParaRPr/>
          </a:p>
        </p:txBody>
      </p:sp>
      <p:sp>
        <p:nvSpPr>
          <p:cNvPr id="26" name="Text 24"/>
          <p:cNvSpPr/>
          <p:nvPr/>
        </p:nvSpPr>
        <p:spPr>
          <a:xfrm>
            <a:off x="4114800" y="4791456"/>
            <a:ext cx="502920" cy="256032"/>
          </a:xfrm>
          <a:prstGeom prst="rect">
            <a:avLst/>
          </a:prstGeom>
          <a:noFill/>
          <a:ln/>
        </p:spPr>
        <p:txBody>
          <a:bodyPr wrap="square" lIns="0" tIns="0" rIns="0" bIns="0" rtlCol="0" anchor="ctr"/>
          <a:lstStyle/>
          <a:p>
            <a:pPr marL="0" indent="0">
              <a:buNone/>
            </a:pPr>
            <a:r>
              <a:rPr lang="en-US" sz="1200" dirty="0">
                <a:solidFill>
                  <a:srgbClr val="4F5D75"/>
                </a:solidFill>
                <a:latin typeface="Segoe UI" pitchFamily="34" charset="0"/>
                <a:ea typeface="Segoe UI" pitchFamily="34" charset="-122"/>
                <a:cs typeface="Segoe UI" pitchFamily="34" charset="-120"/>
              </a:rPr>
              <a:t>78</a:t>
            </a:r>
            <a:endParaRPr lang="en-US" sz="1200" dirty="0"/>
          </a:p>
        </p:txBody>
      </p:sp>
      <p:sp>
        <p:nvSpPr>
          <p:cNvPr id="27" name="Shape 25"/>
          <p:cNvSpPr/>
          <p:nvPr/>
        </p:nvSpPr>
        <p:spPr>
          <a:xfrm>
            <a:off x="777240" y="5221224"/>
            <a:ext cx="3840480" cy="0"/>
          </a:xfrm>
          <a:prstGeom prst="line">
            <a:avLst/>
          </a:prstGeom>
          <a:noFill/>
          <a:ln w="12700">
            <a:solidFill>
              <a:srgbClr val="D9D9DE"/>
            </a:solidFill>
            <a:prstDash val="solid"/>
          </a:ln>
        </p:spPr>
        <p:txBody>
          <a:bodyPr/>
          <a:lstStyle/>
          <a:p>
            <a:endParaRPr/>
          </a:p>
        </p:txBody>
      </p:sp>
      <p:sp>
        <p:nvSpPr>
          <p:cNvPr id="28" name="Text 26"/>
          <p:cNvSpPr/>
          <p:nvPr/>
        </p:nvSpPr>
        <p:spPr>
          <a:xfrm>
            <a:off x="777240" y="5312664"/>
            <a:ext cx="3840480" cy="868680"/>
          </a:xfrm>
          <a:prstGeom prst="rect">
            <a:avLst/>
          </a:prstGeom>
          <a:noFill/>
          <a:ln/>
        </p:spPr>
        <p:txBody>
          <a:bodyPr wrap="square" lIns="0" tIns="0" rIns="0" bIns="0" rtlCol="0" anchor="ctr"/>
          <a:lstStyle/>
          <a:p>
            <a:pPr marL="0" indent="0">
              <a:lnSpc>
                <a:spcPts val="1600"/>
              </a:lnSpc>
              <a:buNone/>
            </a:pPr>
            <a:r>
              <a:rPr lang="en-US" sz="1200" dirty="0">
                <a:solidFill>
                  <a:srgbClr val="2D3142"/>
                </a:solidFill>
                <a:latin typeface="Segoe UI" pitchFamily="34" charset="0"/>
                <a:ea typeface="Segoe UI" pitchFamily="34" charset="-122"/>
                <a:cs typeface="Segoe UI" pitchFamily="34" charset="-120"/>
              </a:rPr>
              <a:t>✓  4/4 members interested</a:t>
            </a:r>
            <a:endParaRPr lang="en-US" sz="1200" dirty="0"/>
          </a:p>
          <a:p>
            <a:pPr marL="0" indent="0">
              <a:lnSpc>
                <a:spcPts val="1600"/>
              </a:lnSpc>
              <a:buNone/>
            </a:pPr>
            <a:r>
              <a:rPr lang="en-US" sz="1200" dirty="0">
                <a:solidFill>
                  <a:srgbClr val="2D3142"/>
                </a:solidFill>
                <a:latin typeface="Segoe UI" pitchFamily="34" charset="0"/>
                <a:ea typeface="Segoe UI" pitchFamily="34" charset="-122"/>
                <a:cs typeface="Segoe UI" pitchFamily="34" charset="-120"/>
              </a:rPr>
              <a:t>✓  Indoor — good for rain</a:t>
            </a:r>
            <a:endParaRPr lang="en-US" sz="1200" dirty="0"/>
          </a:p>
          <a:p>
            <a:pPr marL="0" indent="0">
              <a:lnSpc>
                <a:spcPts val="1600"/>
              </a:lnSpc>
              <a:buNone/>
            </a:pPr>
            <a:r>
              <a:rPr lang="en-US" sz="1200" b="1" dirty="0">
                <a:solidFill>
                  <a:srgbClr val="EB6C36"/>
                </a:solidFill>
                <a:latin typeface="Segoe UI" pitchFamily="34" charset="0"/>
                <a:ea typeface="Segoe UI" pitchFamily="34" charset="-122"/>
                <a:cs typeface="Segoe UI" pitchFamily="34" charset="-120"/>
              </a:rPr>
              <a:t>!  Crowded after 14:00</a:t>
            </a:r>
            <a:endParaRPr lang="en-US" sz="1200" dirty="0"/>
          </a:p>
          <a:p>
            <a:pPr marL="0" indent="0">
              <a:lnSpc>
                <a:spcPts val="1600"/>
              </a:lnSpc>
              <a:buNone/>
            </a:pPr>
            <a:r>
              <a:rPr lang="en-US" sz="1200" dirty="0">
                <a:solidFill>
                  <a:srgbClr val="4F5D75"/>
                </a:solidFill>
                <a:latin typeface="Segoe UI" pitchFamily="34" charset="0"/>
                <a:ea typeface="Segoe UI" pitchFamily="34" charset="-122"/>
                <a:cs typeface="Segoe UI" pitchFamily="34" charset="-120"/>
              </a:rPr>
              <a:t>Backup: Tokyo National Museum</a:t>
            </a:r>
            <a:endParaRPr lang="en-US" sz="1200" dirty="0"/>
          </a:p>
        </p:txBody>
      </p:sp>
      <p:sp>
        <p:nvSpPr>
          <p:cNvPr id="29" name="Shape 27"/>
          <p:cNvSpPr/>
          <p:nvPr/>
        </p:nvSpPr>
        <p:spPr>
          <a:xfrm>
            <a:off x="5394960" y="2066544"/>
            <a:ext cx="6245352" cy="0"/>
          </a:xfrm>
          <a:prstGeom prst="line">
            <a:avLst/>
          </a:prstGeom>
          <a:noFill/>
          <a:ln w="12700">
            <a:solidFill>
              <a:srgbClr val="D9D9DE"/>
            </a:solidFill>
            <a:prstDash val="solid"/>
          </a:ln>
        </p:spPr>
        <p:txBody>
          <a:bodyPr/>
          <a:lstStyle/>
          <a:p>
            <a:endParaRPr/>
          </a:p>
        </p:txBody>
      </p:sp>
      <p:sp>
        <p:nvSpPr>
          <p:cNvPr id="30" name="Text 28"/>
          <p:cNvSpPr/>
          <p:nvPr/>
        </p:nvSpPr>
        <p:spPr>
          <a:xfrm>
            <a:off x="5394960" y="2194560"/>
            <a:ext cx="6217920" cy="292608"/>
          </a:xfrm>
          <a:prstGeom prst="rect">
            <a:avLst/>
          </a:prstGeom>
          <a:noFill/>
          <a:ln/>
        </p:spPr>
        <p:txBody>
          <a:bodyPr wrap="square" lIns="0" tIns="0" rIns="0" bIns="0" rtlCol="0" anchor="ctr"/>
          <a:lstStyle/>
          <a:p>
            <a:pPr marL="0" indent="0">
              <a:buNone/>
            </a:pPr>
            <a:r>
              <a:rPr lang="en-US" sz="1500" b="1" dirty="0">
                <a:solidFill>
                  <a:srgbClr val="2D3142"/>
                </a:solidFill>
                <a:latin typeface="Segoe UI" pitchFamily="34" charset="0"/>
                <a:ea typeface="Segoe UI" pitchFamily="34" charset="-122"/>
                <a:cs typeface="Segoe UI" pitchFamily="34" charset="-120"/>
              </a:rPr>
              <a:t>Five scores, one meaning</a:t>
            </a:r>
            <a:endParaRPr lang="en-US" sz="1500" dirty="0"/>
          </a:p>
        </p:txBody>
      </p:sp>
      <p:sp>
        <p:nvSpPr>
          <p:cNvPr id="31" name="Text 29"/>
          <p:cNvSpPr/>
          <p:nvPr/>
        </p:nvSpPr>
        <p:spPr>
          <a:xfrm>
            <a:off x="5394960" y="2523744"/>
            <a:ext cx="6217920" cy="777240"/>
          </a:xfrm>
          <a:prstGeom prst="rect">
            <a:avLst/>
          </a:prstGeom>
          <a:noFill/>
          <a:ln/>
        </p:spPr>
        <p:txBody>
          <a:bodyPr wrap="square" lIns="0" tIns="0" rIns="0" bIns="0" rtlCol="0" anchor="ctr"/>
          <a:lstStyle/>
          <a:p>
            <a:pPr marL="0" indent="0">
              <a:lnSpc>
                <a:spcPts val="1800"/>
              </a:lnSpc>
              <a:buNone/>
            </a:pPr>
            <a:r>
              <a:rPr lang="en-US" sz="1300" dirty="0">
                <a:solidFill>
                  <a:srgbClr val="4F5D75"/>
                </a:solidFill>
                <a:latin typeface="Segoe UI" pitchFamily="34" charset="0"/>
                <a:ea typeface="Segoe UI" pitchFamily="34" charset="-122"/>
                <a:cs typeface="Segoe UI" pitchFamily="34" charset="-120"/>
              </a:rPr>
              <a:t>Group Fit weighs every member's preferences — budget, interests, pace — before popularity is even considered.</a:t>
            </a:r>
            <a:endParaRPr lang="en-US" sz="1300" dirty="0"/>
          </a:p>
        </p:txBody>
      </p:sp>
      <p:sp>
        <p:nvSpPr>
          <p:cNvPr id="32" name="Shape 30"/>
          <p:cNvSpPr/>
          <p:nvPr/>
        </p:nvSpPr>
        <p:spPr>
          <a:xfrm>
            <a:off x="5394960" y="3392424"/>
            <a:ext cx="6245352" cy="0"/>
          </a:xfrm>
          <a:prstGeom prst="line">
            <a:avLst/>
          </a:prstGeom>
          <a:noFill/>
          <a:ln w="12700">
            <a:solidFill>
              <a:srgbClr val="D9D9DE"/>
            </a:solidFill>
            <a:prstDash val="solid"/>
          </a:ln>
        </p:spPr>
        <p:txBody>
          <a:bodyPr/>
          <a:lstStyle/>
          <a:p>
            <a:endParaRPr/>
          </a:p>
        </p:txBody>
      </p:sp>
      <p:sp>
        <p:nvSpPr>
          <p:cNvPr id="33" name="Text 31"/>
          <p:cNvSpPr/>
          <p:nvPr/>
        </p:nvSpPr>
        <p:spPr>
          <a:xfrm>
            <a:off x="5394960" y="3520440"/>
            <a:ext cx="6217920" cy="292608"/>
          </a:xfrm>
          <a:prstGeom prst="rect">
            <a:avLst/>
          </a:prstGeom>
          <a:noFill/>
          <a:ln/>
        </p:spPr>
        <p:txBody>
          <a:bodyPr wrap="square" lIns="0" tIns="0" rIns="0" bIns="0" rtlCol="0" anchor="ctr"/>
          <a:lstStyle/>
          <a:p>
            <a:pPr marL="0" indent="0">
              <a:buNone/>
            </a:pPr>
            <a:r>
              <a:rPr lang="en-US" sz="1500" b="1" dirty="0">
                <a:solidFill>
                  <a:srgbClr val="2D3142"/>
                </a:solidFill>
                <a:latin typeface="Segoe UI" pitchFamily="34" charset="0"/>
                <a:ea typeface="Segoe UI" pitchFamily="34" charset="-122"/>
                <a:cs typeface="Segoe UI" pitchFamily="34" charset="-120"/>
              </a:rPr>
              <a:t>Risks come with the rec</a:t>
            </a:r>
            <a:endParaRPr lang="en-US" sz="1500" dirty="0"/>
          </a:p>
        </p:txBody>
      </p:sp>
      <p:sp>
        <p:nvSpPr>
          <p:cNvPr id="34" name="Text 32"/>
          <p:cNvSpPr/>
          <p:nvPr/>
        </p:nvSpPr>
        <p:spPr>
          <a:xfrm>
            <a:off x="5394960" y="3849624"/>
            <a:ext cx="6217920" cy="777240"/>
          </a:xfrm>
          <a:prstGeom prst="rect">
            <a:avLst/>
          </a:prstGeom>
          <a:noFill/>
          <a:ln/>
        </p:spPr>
        <p:txBody>
          <a:bodyPr wrap="square" lIns="0" tIns="0" rIns="0" bIns="0" rtlCol="0" anchor="ctr"/>
          <a:lstStyle/>
          <a:p>
            <a:pPr marL="0" indent="0">
              <a:lnSpc>
                <a:spcPts val="1800"/>
              </a:lnSpc>
              <a:buNone/>
            </a:pPr>
            <a:r>
              <a:rPr lang="en-US" sz="1300" dirty="0">
                <a:solidFill>
                  <a:srgbClr val="4F5D75"/>
                </a:solidFill>
                <a:latin typeface="Segoe UI" pitchFamily="34" charset="0"/>
                <a:ea typeface="Segoe UI" pitchFamily="34" charset="-122"/>
                <a:cs typeface="Segoe UI" pitchFamily="34" charset="-120"/>
              </a:rPr>
              <a:t>Every card flags what could go wrong and names a backup activity up front.</a:t>
            </a:r>
            <a:endParaRPr lang="en-US" sz="1300" dirty="0"/>
          </a:p>
        </p:txBody>
      </p:sp>
      <p:sp>
        <p:nvSpPr>
          <p:cNvPr id="35" name="Shape 33"/>
          <p:cNvSpPr/>
          <p:nvPr/>
        </p:nvSpPr>
        <p:spPr>
          <a:xfrm>
            <a:off x="5394960" y="4718304"/>
            <a:ext cx="6245352" cy="0"/>
          </a:xfrm>
          <a:prstGeom prst="line">
            <a:avLst/>
          </a:prstGeom>
          <a:noFill/>
          <a:ln w="12700">
            <a:solidFill>
              <a:srgbClr val="D9D9DE"/>
            </a:solidFill>
            <a:prstDash val="solid"/>
          </a:ln>
        </p:spPr>
        <p:txBody>
          <a:bodyPr/>
          <a:lstStyle/>
          <a:p>
            <a:endParaRPr/>
          </a:p>
        </p:txBody>
      </p:sp>
      <p:sp>
        <p:nvSpPr>
          <p:cNvPr id="36" name="Text 34"/>
          <p:cNvSpPr/>
          <p:nvPr/>
        </p:nvSpPr>
        <p:spPr>
          <a:xfrm>
            <a:off x="5394960" y="4846320"/>
            <a:ext cx="6217920" cy="292608"/>
          </a:xfrm>
          <a:prstGeom prst="rect">
            <a:avLst/>
          </a:prstGeom>
          <a:noFill/>
          <a:ln/>
        </p:spPr>
        <p:txBody>
          <a:bodyPr wrap="square" lIns="0" tIns="0" rIns="0" bIns="0" rtlCol="0" anchor="ctr"/>
          <a:lstStyle/>
          <a:p>
            <a:pPr marL="0" indent="0">
              <a:buNone/>
            </a:pPr>
            <a:r>
              <a:rPr lang="en-US" sz="1500" b="1" dirty="0">
                <a:solidFill>
                  <a:srgbClr val="2D3142"/>
                </a:solidFill>
                <a:latin typeface="Segoe UI" pitchFamily="34" charset="0"/>
                <a:ea typeface="Segoe UI" pitchFamily="34" charset="-122"/>
                <a:cs typeface="Segoe UI" pitchFamily="34" charset="-120"/>
              </a:rPr>
              <a:t>Grounded in research</a:t>
            </a:r>
            <a:endParaRPr lang="en-US" sz="1500" dirty="0"/>
          </a:p>
        </p:txBody>
      </p:sp>
      <p:sp>
        <p:nvSpPr>
          <p:cNvPr id="37" name="Text 35"/>
          <p:cNvSpPr/>
          <p:nvPr/>
        </p:nvSpPr>
        <p:spPr>
          <a:xfrm>
            <a:off x="5394960" y="5175504"/>
            <a:ext cx="6217920" cy="777240"/>
          </a:xfrm>
          <a:prstGeom prst="rect">
            <a:avLst/>
          </a:prstGeom>
          <a:noFill/>
          <a:ln/>
        </p:spPr>
        <p:txBody>
          <a:bodyPr wrap="square" lIns="0" tIns="0" rIns="0" bIns="0" rtlCol="0" anchor="ctr"/>
          <a:lstStyle/>
          <a:p>
            <a:pPr marL="0" indent="0">
              <a:lnSpc>
                <a:spcPts val="1800"/>
              </a:lnSpc>
              <a:buNone/>
            </a:pPr>
            <a:r>
              <a:rPr lang="en-US" sz="1300" dirty="0">
                <a:solidFill>
                  <a:srgbClr val="4F5D75"/>
                </a:solidFill>
                <a:latin typeface="Segoe UI" pitchFamily="34" charset="0"/>
                <a:ea typeface="Segoe UI" pitchFamily="34" charset="-122"/>
                <a:cs typeface="Segoe UI" pitchFamily="34" charset="-120"/>
              </a:rPr>
              <a:t>Best-time windows and crowd notes come from live sources — Places data, reviews, recent posts.</a:t>
            </a:r>
            <a:endParaRPr lang="en-US" sz="1300" dirty="0"/>
          </a:p>
        </p:txBody>
      </p:sp>
      <p:sp>
        <p:nvSpPr>
          <p:cNvPr id="38" name="Text 36"/>
          <p:cNvSpPr/>
          <p:nvPr/>
        </p:nvSpPr>
        <p:spPr>
          <a:xfrm>
            <a:off x="11274552" y="6382512"/>
            <a:ext cx="457200" cy="274320"/>
          </a:xfrm>
          <a:prstGeom prst="rect">
            <a:avLst/>
          </a:prstGeom>
          <a:noFill/>
          <a:ln/>
        </p:spPr>
        <p:txBody>
          <a:bodyPr wrap="square" lIns="0" tIns="0" rIns="0" bIns="0" rtlCol="0" anchor="ctr"/>
          <a:lstStyle/>
          <a:p>
            <a:pPr marL="0" indent="0" algn="r">
              <a:buNone/>
            </a:pPr>
            <a:r>
              <a:rPr lang="en-US" sz="1200" dirty="0">
                <a:solidFill>
                  <a:srgbClr val="7A8399"/>
                </a:solidFill>
                <a:latin typeface="Segoe UI" pitchFamily="34" charset="0"/>
                <a:ea typeface="Segoe UI" pitchFamily="34" charset="-122"/>
                <a:cs typeface="Segoe UI"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548640" y="475488"/>
            <a:ext cx="8229600" cy="292608"/>
          </a:xfrm>
          <a:prstGeom prst="rect">
            <a:avLst/>
          </a:prstGeom>
          <a:noFill/>
          <a:ln/>
        </p:spPr>
        <p:txBody>
          <a:bodyPr wrap="square" lIns="0" tIns="0" rIns="0" bIns="0" rtlCol="0" anchor="ctr"/>
          <a:lstStyle/>
          <a:p>
            <a:pPr marL="0" indent="0">
              <a:buNone/>
            </a:pPr>
            <a:r>
              <a:rPr lang="en-US" sz="1200" b="1" kern="0" spc="400" dirty="0">
                <a:solidFill>
                  <a:srgbClr val="4F5D75"/>
                </a:solidFill>
                <a:latin typeface="Segoe UI" pitchFamily="34" charset="0"/>
                <a:ea typeface="Segoe UI" pitchFamily="34" charset="-122"/>
                <a:cs typeface="Segoe UI" pitchFamily="34" charset="-120"/>
              </a:rPr>
              <a:t>DEMO · 3 — PROPOSALS &amp; VOTES</a:t>
            </a:r>
            <a:endParaRPr lang="en-US" sz="1200" dirty="0"/>
          </a:p>
        </p:txBody>
      </p:sp>
      <p:sp>
        <p:nvSpPr>
          <p:cNvPr id="3" name="Text 1"/>
          <p:cNvSpPr/>
          <p:nvPr/>
        </p:nvSpPr>
        <p:spPr>
          <a:xfrm>
            <a:off x="548640" y="841248"/>
            <a:ext cx="11091672" cy="914400"/>
          </a:xfrm>
          <a:prstGeom prst="rect">
            <a:avLst/>
          </a:prstGeom>
          <a:noFill/>
          <a:ln/>
        </p:spPr>
        <p:txBody>
          <a:bodyPr wrap="square" lIns="0" tIns="0" rIns="0" bIns="0" rtlCol="0" anchor="ctr"/>
          <a:lstStyle/>
          <a:p>
            <a:pPr marL="0" indent="0">
              <a:buNone/>
            </a:pPr>
            <a:r>
              <a:rPr lang="en-US" sz="2800" dirty="0">
                <a:solidFill>
                  <a:srgbClr val="2D3142"/>
                </a:solidFill>
                <a:latin typeface="Georgia" pitchFamily="34" charset="0"/>
                <a:ea typeface="Georgia" pitchFamily="34" charset="-122"/>
                <a:cs typeface="Georgia" pitchFamily="34" charset="-120"/>
              </a:rPr>
              <a:t>Rationale, diff, impact, and the vote — in one view</a:t>
            </a:r>
            <a:endParaRPr lang="en-US" sz="2800" dirty="0"/>
          </a:p>
        </p:txBody>
      </p:sp>
      <p:sp>
        <p:nvSpPr>
          <p:cNvPr id="4" name="Shape 2"/>
          <p:cNvSpPr/>
          <p:nvPr/>
        </p:nvSpPr>
        <p:spPr>
          <a:xfrm>
            <a:off x="548640" y="1920240"/>
            <a:ext cx="5029200" cy="4297680"/>
          </a:xfrm>
          <a:prstGeom prst="rect">
            <a:avLst/>
          </a:prstGeom>
          <a:solidFill>
            <a:srgbClr val="FFFFFF"/>
          </a:solidFill>
          <a:ln w="12700">
            <a:solidFill>
              <a:srgbClr val="2D3142"/>
            </a:solidFill>
            <a:prstDash val="solid"/>
          </a:ln>
        </p:spPr>
        <p:txBody>
          <a:bodyPr/>
          <a:lstStyle/>
          <a:p>
            <a:endParaRPr/>
          </a:p>
        </p:txBody>
      </p:sp>
      <p:sp>
        <p:nvSpPr>
          <p:cNvPr id="5" name="Shape 3"/>
          <p:cNvSpPr/>
          <p:nvPr/>
        </p:nvSpPr>
        <p:spPr>
          <a:xfrm>
            <a:off x="777240" y="2103120"/>
            <a:ext cx="1188720" cy="256032"/>
          </a:xfrm>
          <a:prstGeom prst="rect">
            <a:avLst/>
          </a:prstGeom>
          <a:solidFill>
            <a:srgbClr val="FBEFE8"/>
          </a:solidFill>
          <a:ln w="10160">
            <a:solidFill>
              <a:srgbClr val="EB6C36"/>
            </a:solidFill>
            <a:prstDash val="solid"/>
          </a:ln>
        </p:spPr>
        <p:txBody>
          <a:bodyPr/>
          <a:lstStyle/>
          <a:p>
            <a:endParaRPr/>
          </a:p>
        </p:txBody>
      </p:sp>
      <p:sp>
        <p:nvSpPr>
          <p:cNvPr id="6" name="Text 4"/>
          <p:cNvSpPr/>
          <p:nvPr/>
        </p:nvSpPr>
        <p:spPr>
          <a:xfrm>
            <a:off x="777240" y="2121408"/>
            <a:ext cx="1188720" cy="219456"/>
          </a:xfrm>
          <a:prstGeom prst="rect">
            <a:avLst/>
          </a:prstGeom>
          <a:noFill/>
          <a:ln/>
        </p:spPr>
        <p:txBody>
          <a:bodyPr wrap="square" lIns="0" tIns="0" rIns="0" bIns="0" rtlCol="0" anchor="ctr"/>
          <a:lstStyle/>
          <a:p>
            <a:pPr marL="0" indent="0" algn="ctr">
              <a:buNone/>
            </a:pPr>
            <a:r>
              <a:rPr lang="en-US" sz="1200" b="1" dirty="0">
                <a:solidFill>
                  <a:srgbClr val="EB6C36"/>
                </a:solidFill>
                <a:latin typeface="Segoe UI" pitchFamily="34" charset="0"/>
                <a:ea typeface="Segoe UI" pitchFamily="34" charset="-122"/>
                <a:cs typeface="Segoe UI" pitchFamily="34" charset="-120"/>
              </a:rPr>
              <a:t>AI PROPOSAL</a:t>
            </a:r>
            <a:endParaRPr lang="en-US" sz="1200" dirty="0"/>
          </a:p>
        </p:txBody>
      </p:sp>
      <p:sp>
        <p:nvSpPr>
          <p:cNvPr id="7" name="Text 5"/>
          <p:cNvSpPr/>
          <p:nvPr/>
        </p:nvSpPr>
        <p:spPr>
          <a:xfrm>
            <a:off x="777240" y="2450592"/>
            <a:ext cx="4572000" cy="320040"/>
          </a:xfrm>
          <a:prstGeom prst="rect">
            <a:avLst/>
          </a:prstGeom>
          <a:noFill/>
          <a:ln/>
        </p:spPr>
        <p:txBody>
          <a:bodyPr wrap="square" lIns="0" tIns="0" rIns="0" bIns="0" rtlCol="0" anchor="ctr"/>
          <a:lstStyle/>
          <a:p>
            <a:pPr marL="0" indent="0">
              <a:buNone/>
            </a:pPr>
            <a:r>
              <a:rPr lang="en-US" sz="1800" dirty="0">
                <a:solidFill>
                  <a:srgbClr val="2D3142"/>
                </a:solidFill>
                <a:latin typeface="Georgia" pitchFamily="34" charset="0"/>
                <a:ea typeface="Georgia" pitchFamily="34" charset="-122"/>
                <a:cs typeface="Georgia" pitchFamily="34" charset="-120"/>
              </a:rPr>
              <a:t>Make Day 3 less tiring</a:t>
            </a:r>
            <a:endParaRPr lang="en-US" sz="1800" dirty="0"/>
          </a:p>
        </p:txBody>
      </p:sp>
      <p:sp>
        <p:nvSpPr>
          <p:cNvPr id="8" name="Text 6"/>
          <p:cNvSpPr/>
          <p:nvPr/>
        </p:nvSpPr>
        <p:spPr>
          <a:xfrm>
            <a:off x="777240" y="2880360"/>
            <a:ext cx="4572000" cy="274320"/>
          </a:xfrm>
          <a:prstGeom prst="rect">
            <a:avLst/>
          </a:prstGeom>
          <a:noFill/>
          <a:ln/>
        </p:spPr>
        <p:txBody>
          <a:bodyPr wrap="square" lIns="0" tIns="0" rIns="0" bIns="0" rtlCol="0" anchor="ctr"/>
          <a:lstStyle/>
          <a:p>
            <a:pPr marL="0" indent="0">
              <a:buNone/>
            </a:pPr>
            <a:r>
              <a:rPr lang="en-US" sz="1200" b="1" dirty="0">
                <a:solidFill>
                  <a:srgbClr val="7A8399"/>
                </a:solidFill>
                <a:latin typeface="Segoe UI" pitchFamily="34" charset="0"/>
                <a:ea typeface="Segoe UI" pitchFamily="34" charset="-122"/>
                <a:cs typeface="Segoe UI" pitchFamily="34" charset="-120"/>
              </a:rPr>
              <a:t>WHY      </a:t>
            </a:r>
            <a:r>
              <a:rPr lang="en-US" sz="1200" dirty="0">
                <a:solidFill>
                  <a:srgbClr val="2D3142"/>
                </a:solidFill>
                <a:latin typeface="Segoe UI" pitchFamily="34" charset="0"/>
                <a:ea typeface="Segoe UI" pitchFamily="34" charset="-122"/>
                <a:cs typeface="Segoe UI" pitchFamily="34" charset="-120"/>
              </a:rPr>
              <a:t>Day 3 currently needs ~11.2 km of walking.</a:t>
            </a:r>
            <a:endParaRPr lang="en-US" sz="1200" dirty="0"/>
          </a:p>
        </p:txBody>
      </p:sp>
      <p:sp>
        <p:nvSpPr>
          <p:cNvPr id="9" name="Text 7"/>
          <p:cNvSpPr/>
          <p:nvPr/>
        </p:nvSpPr>
        <p:spPr>
          <a:xfrm>
            <a:off x="777240" y="3246120"/>
            <a:ext cx="4572000" cy="566928"/>
          </a:xfrm>
          <a:prstGeom prst="rect">
            <a:avLst/>
          </a:prstGeom>
          <a:noFill/>
          <a:ln/>
        </p:spPr>
        <p:txBody>
          <a:bodyPr wrap="square" lIns="0" tIns="0" rIns="0" bIns="0" rtlCol="0" anchor="ctr"/>
          <a:lstStyle/>
          <a:p>
            <a:pPr marL="0" indent="0">
              <a:lnSpc>
                <a:spcPts val="1700"/>
              </a:lnSpc>
              <a:buNone/>
            </a:pPr>
            <a:r>
              <a:rPr lang="en-US" sz="1200" b="1" dirty="0">
                <a:solidFill>
                  <a:srgbClr val="7A8399"/>
                </a:solidFill>
                <a:latin typeface="Segoe UI" pitchFamily="34" charset="0"/>
                <a:ea typeface="Segoe UI" pitchFamily="34" charset="-122"/>
                <a:cs typeface="Segoe UI" pitchFamily="34" charset="-120"/>
              </a:rPr>
              <a:t>CHANGES  </a:t>
            </a:r>
            <a:endParaRPr lang="en-US" sz="1200" dirty="0"/>
          </a:p>
          <a:p>
            <a:pPr marL="0" indent="0">
              <a:lnSpc>
                <a:spcPts val="1700"/>
              </a:lnSpc>
              <a:buNone/>
            </a:pPr>
            <a:r>
              <a:rPr lang="en-US" sz="1200" dirty="0">
                <a:solidFill>
                  <a:srgbClr val="2D3142"/>
                </a:solidFill>
                <a:latin typeface="Segoe UI" pitchFamily="34" charset="0"/>
                <a:ea typeface="Segoe UI" pitchFamily="34" charset="-122"/>
                <a:cs typeface="Segoe UI" pitchFamily="34" charset="-120"/>
              </a:rPr>
              <a:t>TeamLab to 09:30  ·  drop Shibuya Sky  ·  add a cafe break  ·  shopping to 18:00</a:t>
            </a:r>
            <a:endParaRPr lang="en-US" sz="1200" dirty="0"/>
          </a:p>
        </p:txBody>
      </p:sp>
      <p:sp>
        <p:nvSpPr>
          <p:cNvPr id="10" name="Text 8"/>
          <p:cNvSpPr/>
          <p:nvPr/>
        </p:nvSpPr>
        <p:spPr>
          <a:xfrm>
            <a:off x="777240" y="3931920"/>
            <a:ext cx="1280160" cy="256032"/>
          </a:xfrm>
          <a:prstGeom prst="rect">
            <a:avLst/>
          </a:prstGeom>
          <a:noFill/>
          <a:ln/>
        </p:spPr>
        <p:txBody>
          <a:bodyPr wrap="square" lIns="0" tIns="0" rIns="0" bIns="0" rtlCol="0" anchor="ctr"/>
          <a:lstStyle/>
          <a:p>
            <a:pPr marL="0" indent="0">
              <a:buNone/>
            </a:pPr>
            <a:r>
              <a:rPr lang="en-US" sz="1200" dirty="0">
                <a:solidFill>
                  <a:srgbClr val="4F5D75"/>
                </a:solidFill>
                <a:latin typeface="Segoe UI" pitchFamily="34" charset="0"/>
                <a:ea typeface="Segoe UI" pitchFamily="34" charset="-122"/>
                <a:cs typeface="Segoe UI" pitchFamily="34" charset="-120"/>
              </a:rPr>
              <a:t>Walking</a:t>
            </a:r>
            <a:endParaRPr lang="en-US" sz="1200" dirty="0"/>
          </a:p>
        </p:txBody>
      </p:sp>
      <p:sp>
        <p:nvSpPr>
          <p:cNvPr id="11" name="Text 9"/>
          <p:cNvSpPr/>
          <p:nvPr/>
        </p:nvSpPr>
        <p:spPr>
          <a:xfrm>
            <a:off x="2103120" y="3931920"/>
            <a:ext cx="2377440" cy="256032"/>
          </a:xfrm>
          <a:prstGeom prst="rect">
            <a:avLst/>
          </a:prstGeom>
          <a:noFill/>
          <a:ln/>
        </p:spPr>
        <p:txBody>
          <a:bodyPr wrap="square" lIns="0" tIns="0" rIns="0" bIns="0" rtlCol="0" anchor="ctr"/>
          <a:lstStyle/>
          <a:p>
            <a:pPr marL="0" indent="0">
              <a:buNone/>
            </a:pPr>
            <a:r>
              <a:rPr lang="en-US" sz="1200" b="1" dirty="0">
                <a:solidFill>
                  <a:srgbClr val="EB6C36"/>
                </a:solidFill>
                <a:latin typeface="Segoe UI" pitchFamily="34" charset="0"/>
                <a:ea typeface="Segoe UI" pitchFamily="34" charset="-122"/>
                <a:cs typeface="Segoe UI" pitchFamily="34" charset="-120"/>
              </a:rPr>
              <a:t>11.2 km → 6.1 km</a:t>
            </a:r>
            <a:endParaRPr lang="en-US" sz="1200" dirty="0"/>
          </a:p>
        </p:txBody>
      </p:sp>
      <p:sp>
        <p:nvSpPr>
          <p:cNvPr id="12" name="Text 10"/>
          <p:cNvSpPr/>
          <p:nvPr/>
        </p:nvSpPr>
        <p:spPr>
          <a:xfrm>
            <a:off x="777240" y="4261104"/>
            <a:ext cx="1280160" cy="256032"/>
          </a:xfrm>
          <a:prstGeom prst="rect">
            <a:avLst/>
          </a:prstGeom>
          <a:noFill/>
          <a:ln/>
        </p:spPr>
        <p:txBody>
          <a:bodyPr wrap="square" lIns="0" tIns="0" rIns="0" bIns="0" rtlCol="0" anchor="ctr"/>
          <a:lstStyle/>
          <a:p>
            <a:pPr marL="0" indent="0">
              <a:buNone/>
            </a:pPr>
            <a:r>
              <a:rPr lang="en-US" sz="1200" dirty="0">
                <a:solidFill>
                  <a:srgbClr val="4F5D75"/>
                </a:solidFill>
                <a:latin typeface="Segoe UI" pitchFamily="34" charset="0"/>
                <a:ea typeface="Segoe UI" pitchFamily="34" charset="-122"/>
                <a:cs typeface="Segoe UI" pitchFamily="34" charset="-120"/>
              </a:rPr>
              <a:t>Cost</a:t>
            </a:r>
            <a:endParaRPr lang="en-US" sz="1200" dirty="0"/>
          </a:p>
        </p:txBody>
      </p:sp>
      <p:sp>
        <p:nvSpPr>
          <p:cNvPr id="13" name="Text 11"/>
          <p:cNvSpPr/>
          <p:nvPr/>
        </p:nvSpPr>
        <p:spPr>
          <a:xfrm>
            <a:off x="2103120" y="4261104"/>
            <a:ext cx="2377440" cy="256032"/>
          </a:xfrm>
          <a:prstGeom prst="rect">
            <a:avLst/>
          </a:prstGeom>
          <a:noFill/>
          <a:ln/>
        </p:spPr>
        <p:txBody>
          <a:bodyPr wrap="square" lIns="0" tIns="0" rIns="0" bIns="0" rtlCol="0" anchor="ctr"/>
          <a:lstStyle/>
          <a:p>
            <a:pPr marL="0" indent="0">
              <a:buNone/>
            </a:pPr>
            <a:r>
              <a:rPr lang="en-US" sz="1200" dirty="0">
                <a:solidFill>
                  <a:srgbClr val="2D3142"/>
                </a:solidFill>
                <a:latin typeface="Segoe UI" pitchFamily="34" charset="0"/>
                <a:ea typeface="Segoe UI" pitchFamily="34" charset="-122"/>
                <a:cs typeface="Segoe UI" pitchFamily="34" charset="-120"/>
              </a:rPr>
              <a:t>RM 120 → RM 140</a:t>
            </a:r>
            <a:endParaRPr lang="en-US" sz="1200" dirty="0"/>
          </a:p>
        </p:txBody>
      </p:sp>
      <p:sp>
        <p:nvSpPr>
          <p:cNvPr id="14" name="Text 12"/>
          <p:cNvSpPr/>
          <p:nvPr/>
        </p:nvSpPr>
        <p:spPr>
          <a:xfrm>
            <a:off x="777240" y="4590288"/>
            <a:ext cx="1280160" cy="256032"/>
          </a:xfrm>
          <a:prstGeom prst="rect">
            <a:avLst/>
          </a:prstGeom>
          <a:noFill/>
          <a:ln/>
        </p:spPr>
        <p:txBody>
          <a:bodyPr wrap="square" lIns="0" tIns="0" rIns="0" bIns="0" rtlCol="0" anchor="ctr"/>
          <a:lstStyle/>
          <a:p>
            <a:pPr marL="0" indent="0">
              <a:buNone/>
            </a:pPr>
            <a:r>
              <a:rPr lang="en-US" sz="1200" dirty="0">
                <a:solidFill>
                  <a:srgbClr val="4F5D75"/>
                </a:solidFill>
                <a:latin typeface="Segoe UI" pitchFamily="34" charset="0"/>
                <a:ea typeface="Segoe UI" pitchFamily="34" charset="-122"/>
                <a:cs typeface="Segoe UI" pitchFamily="34" charset="-120"/>
              </a:rPr>
              <a:t>Group fit</a:t>
            </a:r>
            <a:endParaRPr lang="en-US" sz="1200" dirty="0"/>
          </a:p>
        </p:txBody>
      </p:sp>
      <p:sp>
        <p:nvSpPr>
          <p:cNvPr id="15" name="Text 13"/>
          <p:cNvSpPr/>
          <p:nvPr/>
        </p:nvSpPr>
        <p:spPr>
          <a:xfrm>
            <a:off x="2103120" y="4590288"/>
            <a:ext cx="2377440" cy="256032"/>
          </a:xfrm>
          <a:prstGeom prst="rect">
            <a:avLst/>
          </a:prstGeom>
          <a:noFill/>
          <a:ln/>
        </p:spPr>
        <p:txBody>
          <a:bodyPr wrap="square" lIns="0" tIns="0" rIns="0" bIns="0" rtlCol="0" anchor="ctr"/>
          <a:lstStyle/>
          <a:p>
            <a:pPr marL="0" indent="0">
              <a:buNone/>
            </a:pPr>
            <a:r>
              <a:rPr lang="en-US" sz="1200" dirty="0">
                <a:solidFill>
                  <a:srgbClr val="2D3142"/>
                </a:solidFill>
                <a:latin typeface="Segoe UI" pitchFamily="34" charset="0"/>
                <a:ea typeface="Segoe UI" pitchFamily="34" charset="-122"/>
                <a:cs typeface="Segoe UI" pitchFamily="34" charset="-120"/>
              </a:rPr>
              <a:t>82 → 91</a:t>
            </a:r>
            <a:endParaRPr lang="en-US" sz="1200" dirty="0"/>
          </a:p>
        </p:txBody>
      </p:sp>
      <p:sp>
        <p:nvSpPr>
          <p:cNvPr id="16" name="Shape 14"/>
          <p:cNvSpPr/>
          <p:nvPr/>
        </p:nvSpPr>
        <p:spPr>
          <a:xfrm>
            <a:off x="777240" y="4992624"/>
            <a:ext cx="4572000" cy="0"/>
          </a:xfrm>
          <a:prstGeom prst="line">
            <a:avLst/>
          </a:prstGeom>
          <a:noFill/>
          <a:ln w="12700">
            <a:solidFill>
              <a:srgbClr val="D9D9DE"/>
            </a:solidFill>
            <a:prstDash val="solid"/>
          </a:ln>
        </p:spPr>
        <p:txBody>
          <a:bodyPr/>
          <a:lstStyle/>
          <a:p>
            <a:endParaRPr/>
          </a:p>
        </p:txBody>
      </p:sp>
      <p:sp>
        <p:nvSpPr>
          <p:cNvPr id="17" name="Text 15"/>
          <p:cNvSpPr/>
          <p:nvPr/>
        </p:nvSpPr>
        <p:spPr>
          <a:xfrm>
            <a:off x="777240" y="5102352"/>
            <a:ext cx="4572000" cy="548640"/>
          </a:xfrm>
          <a:prstGeom prst="rect">
            <a:avLst/>
          </a:prstGeom>
          <a:noFill/>
          <a:ln/>
        </p:spPr>
        <p:txBody>
          <a:bodyPr wrap="square" lIns="0" tIns="0" rIns="0" bIns="0" rtlCol="0" anchor="ctr"/>
          <a:lstStyle/>
          <a:p>
            <a:pPr marL="0" indent="0">
              <a:lnSpc>
                <a:spcPts val="1800"/>
              </a:lnSpc>
              <a:buNone/>
            </a:pPr>
            <a:r>
              <a:rPr lang="en-US" sz="1200" dirty="0">
                <a:solidFill>
                  <a:srgbClr val="2D3142"/>
                </a:solidFill>
                <a:latin typeface="Segoe UI" pitchFamily="34" charset="0"/>
                <a:ea typeface="Segoe UI" pitchFamily="34" charset="-122"/>
                <a:cs typeface="Segoe UI" pitchFamily="34" charset="-120"/>
              </a:rPr>
              <a:t>Alice ✓    Bob ✓    Charlie ×    David ✓</a:t>
            </a:r>
            <a:endParaRPr lang="en-US" sz="1200" dirty="0"/>
          </a:p>
          <a:p>
            <a:pPr marL="0" indent="0">
              <a:lnSpc>
                <a:spcPts val="1800"/>
              </a:lnSpc>
              <a:buNone/>
            </a:pPr>
            <a:r>
              <a:rPr lang="en-US" sz="1200" b="1" dirty="0">
                <a:solidFill>
                  <a:srgbClr val="EB6C36"/>
                </a:solidFill>
                <a:latin typeface="Segoe UI" pitchFamily="34" charset="0"/>
                <a:ea typeface="Segoe UI" pitchFamily="34" charset="-122"/>
                <a:cs typeface="Segoe UI" pitchFamily="34" charset="-120"/>
              </a:rPr>
              <a:t>3 / 4 approve — applied as itinerary v4</a:t>
            </a:r>
            <a:endParaRPr lang="en-US" sz="1200" dirty="0"/>
          </a:p>
        </p:txBody>
      </p:sp>
      <p:sp>
        <p:nvSpPr>
          <p:cNvPr id="18" name="Shape 16"/>
          <p:cNvSpPr/>
          <p:nvPr/>
        </p:nvSpPr>
        <p:spPr>
          <a:xfrm>
            <a:off x="777240" y="5742432"/>
            <a:ext cx="1097280" cy="329184"/>
          </a:xfrm>
          <a:prstGeom prst="roundRect">
            <a:avLst>
              <a:gd name="adj" fmla="val 13889"/>
            </a:avLst>
          </a:prstGeom>
          <a:solidFill>
            <a:srgbClr val="EB6C36"/>
          </a:solidFill>
          <a:ln w="10160">
            <a:solidFill>
              <a:srgbClr val="2D3142"/>
            </a:solidFill>
            <a:prstDash val="solid"/>
          </a:ln>
        </p:spPr>
        <p:txBody>
          <a:bodyPr/>
          <a:lstStyle/>
          <a:p>
            <a:endParaRPr/>
          </a:p>
        </p:txBody>
      </p:sp>
      <p:sp>
        <p:nvSpPr>
          <p:cNvPr id="19" name="Text 17"/>
          <p:cNvSpPr/>
          <p:nvPr/>
        </p:nvSpPr>
        <p:spPr>
          <a:xfrm>
            <a:off x="777240" y="5742432"/>
            <a:ext cx="109728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Approve</a:t>
            </a:r>
            <a:endParaRPr lang="en-US" sz="1200" dirty="0"/>
          </a:p>
        </p:txBody>
      </p:sp>
      <p:sp>
        <p:nvSpPr>
          <p:cNvPr id="20" name="Shape 18"/>
          <p:cNvSpPr/>
          <p:nvPr/>
        </p:nvSpPr>
        <p:spPr>
          <a:xfrm>
            <a:off x="2011680" y="5742432"/>
            <a:ext cx="1097280" cy="329184"/>
          </a:xfrm>
          <a:prstGeom prst="roundRect">
            <a:avLst>
              <a:gd name="adj" fmla="val 13889"/>
            </a:avLst>
          </a:prstGeom>
          <a:solidFill>
            <a:srgbClr val="FFFFFF"/>
          </a:solidFill>
          <a:ln w="10160">
            <a:solidFill>
              <a:srgbClr val="2D3142"/>
            </a:solidFill>
            <a:prstDash val="solid"/>
          </a:ln>
        </p:spPr>
        <p:txBody>
          <a:bodyPr/>
          <a:lstStyle/>
          <a:p>
            <a:endParaRPr/>
          </a:p>
        </p:txBody>
      </p:sp>
      <p:sp>
        <p:nvSpPr>
          <p:cNvPr id="21" name="Text 19"/>
          <p:cNvSpPr/>
          <p:nvPr/>
        </p:nvSpPr>
        <p:spPr>
          <a:xfrm>
            <a:off x="2011680" y="5742432"/>
            <a:ext cx="1097280" cy="329184"/>
          </a:xfrm>
          <a:prstGeom prst="rect">
            <a:avLst/>
          </a:prstGeom>
          <a:noFill/>
          <a:ln/>
        </p:spPr>
        <p:txBody>
          <a:bodyPr wrap="square" lIns="0" tIns="0" rIns="0" bIns="0" rtlCol="0" anchor="ctr"/>
          <a:lstStyle/>
          <a:p>
            <a:pPr marL="0" indent="0" algn="ctr">
              <a:buNone/>
            </a:pPr>
            <a:r>
              <a:rPr lang="en-US" sz="1200" b="1" dirty="0">
                <a:solidFill>
                  <a:srgbClr val="2D3142"/>
                </a:solidFill>
                <a:latin typeface="Segoe UI" pitchFamily="34" charset="0"/>
                <a:ea typeface="Segoe UI" pitchFamily="34" charset="-122"/>
                <a:cs typeface="Segoe UI" pitchFamily="34" charset="-120"/>
              </a:rPr>
              <a:t>Modify</a:t>
            </a:r>
            <a:endParaRPr lang="en-US" sz="1200" dirty="0"/>
          </a:p>
        </p:txBody>
      </p:sp>
      <p:sp>
        <p:nvSpPr>
          <p:cNvPr id="22" name="Shape 20"/>
          <p:cNvSpPr/>
          <p:nvPr/>
        </p:nvSpPr>
        <p:spPr>
          <a:xfrm>
            <a:off x="3246120" y="5742432"/>
            <a:ext cx="1097280" cy="329184"/>
          </a:xfrm>
          <a:prstGeom prst="roundRect">
            <a:avLst>
              <a:gd name="adj" fmla="val 13889"/>
            </a:avLst>
          </a:prstGeom>
          <a:solidFill>
            <a:srgbClr val="FFFFFF"/>
          </a:solidFill>
          <a:ln w="10160">
            <a:solidFill>
              <a:srgbClr val="2D3142"/>
            </a:solidFill>
            <a:prstDash val="solid"/>
          </a:ln>
        </p:spPr>
        <p:txBody>
          <a:bodyPr/>
          <a:lstStyle/>
          <a:p>
            <a:endParaRPr/>
          </a:p>
        </p:txBody>
      </p:sp>
      <p:sp>
        <p:nvSpPr>
          <p:cNvPr id="23" name="Text 21"/>
          <p:cNvSpPr/>
          <p:nvPr/>
        </p:nvSpPr>
        <p:spPr>
          <a:xfrm>
            <a:off x="3246120" y="5742432"/>
            <a:ext cx="1097280" cy="329184"/>
          </a:xfrm>
          <a:prstGeom prst="rect">
            <a:avLst/>
          </a:prstGeom>
          <a:noFill/>
          <a:ln/>
        </p:spPr>
        <p:txBody>
          <a:bodyPr wrap="square" lIns="0" tIns="0" rIns="0" bIns="0" rtlCol="0" anchor="ctr"/>
          <a:lstStyle/>
          <a:p>
            <a:pPr marL="0" indent="0" algn="ctr">
              <a:buNone/>
            </a:pPr>
            <a:r>
              <a:rPr lang="en-US" sz="1200" b="1" dirty="0">
                <a:solidFill>
                  <a:srgbClr val="2D3142"/>
                </a:solidFill>
                <a:latin typeface="Segoe UI" pitchFamily="34" charset="0"/>
                <a:ea typeface="Segoe UI" pitchFamily="34" charset="-122"/>
                <a:cs typeface="Segoe UI" pitchFamily="34" charset="-120"/>
              </a:rPr>
              <a:t>Reject</a:t>
            </a:r>
            <a:endParaRPr lang="en-US" sz="1200" dirty="0"/>
          </a:p>
        </p:txBody>
      </p:sp>
      <p:sp>
        <p:nvSpPr>
          <p:cNvPr id="24" name="Shape 22"/>
          <p:cNvSpPr/>
          <p:nvPr/>
        </p:nvSpPr>
        <p:spPr>
          <a:xfrm>
            <a:off x="6126480" y="2066544"/>
            <a:ext cx="5513832" cy="0"/>
          </a:xfrm>
          <a:prstGeom prst="line">
            <a:avLst/>
          </a:prstGeom>
          <a:noFill/>
          <a:ln w="12700">
            <a:solidFill>
              <a:srgbClr val="D9D9DE"/>
            </a:solidFill>
            <a:prstDash val="solid"/>
          </a:ln>
        </p:spPr>
        <p:txBody>
          <a:bodyPr/>
          <a:lstStyle/>
          <a:p>
            <a:endParaRPr/>
          </a:p>
        </p:txBody>
      </p:sp>
      <p:sp>
        <p:nvSpPr>
          <p:cNvPr id="25" name="Text 23"/>
          <p:cNvSpPr/>
          <p:nvPr/>
        </p:nvSpPr>
        <p:spPr>
          <a:xfrm>
            <a:off x="6126480" y="2194560"/>
            <a:ext cx="5486400" cy="292608"/>
          </a:xfrm>
          <a:prstGeom prst="rect">
            <a:avLst/>
          </a:prstGeom>
          <a:noFill/>
          <a:ln/>
        </p:spPr>
        <p:txBody>
          <a:bodyPr wrap="square" lIns="0" tIns="0" rIns="0" bIns="0" rtlCol="0" anchor="ctr"/>
          <a:lstStyle/>
          <a:p>
            <a:pPr marL="0" indent="0">
              <a:buNone/>
            </a:pPr>
            <a:r>
              <a:rPr lang="en-US" sz="1500" b="1" dirty="0">
                <a:solidFill>
                  <a:srgbClr val="2D3142"/>
                </a:solidFill>
                <a:latin typeface="Segoe UI" pitchFamily="34" charset="0"/>
                <a:ea typeface="Segoe UI" pitchFamily="34" charset="-122"/>
                <a:cs typeface="Segoe UI" pitchFamily="34" charset="-120"/>
              </a:rPr>
              <a:t>Review before merge</a:t>
            </a:r>
            <a:endParaRPr lang="en-US" sz="1500" dirty="0"/>
          </a:p>
        </p:txBody>
      </p:sp>
      <p:sp>
        <p:nvSpPr>
          <p:cNvPr id="26" name="Text 24"/>
          <p:cNvSpPr/>
          <p:nvPr/>
        </p:nvSpPr>
        <p:spPr>
          <a:xfrm>
            <a:off x="6126480" y="2523744"/>
            <a:ext cx="5486400" cy="777240"/>
          </a:xfrm>
          <a:prstGeom prst="rect">
            <a:avLst/>
          </a:prstGeom>
          <a:noFill/>
          <a:ln/>
        </p:spPr>
        <p:txBody>
          <a:bodyPr wrap="square" lIns="0" tIns="0" rIns="0" bIns="0" rtlCol="0" anchor="ctr"/>
          <a:lstStyle/>
          <a:p>
            <a:pPr marL="0" indent="0">
              <a:lnSpc>
                <a:spcPts val="1800"/>
              </a:lnSpc>
              <a:buNone/>
            </a:pPr>
            <a:r>
              <a:rPr lang="en-US" sz="1300" dirty="0">
                <a:solidFill>
                  <a:srgbClr val="4F5D75"/>
                </a:solidFill>
                <a:latin typeface="Segoe UI" pitchFamily="34" charset="0"/>
                <a:ea typeface="Segoe UI" pitchFamily="34" charset="-122"/>
                <a:cs typeface="Segoe UI" pitchFamily="34" charset="-120"/>
              </a:rPr>
              <a:t>Why, diff, and impact are shown before a single itinerary line changes — borrowed from PR review.</a:t>
            </a:r>
            <a:endParaRPr lang="en-US" sz="1300" dirty="0"/>
          </a:p>
        </p:txBody>
      </p:sp>
      <p:sp>
        <p:nvSpPr>
          <p:cNvPr id="27" name="Shape 25"/>
          <p:cNvSpPr/>
          <p:nvPr/>
        </p:nvSpPr>
        <p:spPr>
          <a:xfrm>
            <a:off x="6126480" y="3392424"/>
            <a:ext cx="5513832" cy="0"/>
          </a:xfrm>
          <a:prstGeom prst="line">
            <a:avLst/>
          </a:prstGeom>
          <a:noFill/>
          <a:ln w="12700">
            <a:solidFill>
              <a:srgbClr val="D9D9DE"/>
            </a:solidFill>
            <a:prstDash val="solid"/>
          </a:ln>
        </p:spPr>
        <p:txBody>
          <a:bodyPr/>
          <a:lstStyle/>
          <a:p>
            <a:endParaRPr/>
          </a:p>
        </p:txBody>
      </p:sp>
      <p:sp>
        <p:nvSpPr>
          <p:cNvPr id="28" name="Text 26"/>
          <p:cNvSpPr/>
          <p:nvPr/>
        </p:nvSpPr>
        <p:spPr>
          <a:xfrm>
            <a:off x="6126480" y="3520440"/>
            <a:ext cx="5486400" cy="292608"/>
          </a:xfrm>
          <a:prstGeom prst="rect">
            <a:avLst/>
          </a:prstGeom>
          <a:noFill/>
          <a:ln/>
        </p:spPr>
        <p:txBody>
          <a:bodyPr wrap="square" lIns="0" tIns="0" rIns="0" bIns="0" rtlCol="0" anchor="ctr"/>
          <a:lstStyle/>
          <a:p>
            <a:pPr marL="0" indent="0">
              <a:buNone/>
            </a:pPr>
            <a:r>
              <a:rPr lang="en-US" sz="1500" b="1" dirty="0">
                <a:solidFill>
                  <a:srgbClr val="2D3142"/>
                </a:solidFill>
                <a:latin typeface="Segoe UI" pitchFamily="34" charset="0"/>
                <a:ea typeface="Segoe UI" pitchFamily="34" charset="-122"/>
                <a:cs typeface="Segoe UI" pitchFamily="34" charset="-120"/>
              </a:rPr>
              <a:t>No vote, no change</a:t>
            </a:r>
            <a:endParaRPr lang="en-US" sz="1500" dirty="0"/>
          </a:p>
        </p:txBody>
      </p:sp>
      <p:sp>
        <p:nvSpPr>
          <p:cNvPr id="29" name="Text 27"/>
          <p:cNvSpPr/>
          <p:nvPr/>
        </p:nvSpPr>
        <p:spPr>
          <a:xfrm>
            <a:off x="6126480" y="3849624"/>
            <a:ext cx="5486400" cy="777240"/>
          </a:xfrm>
          <a:prstGeom prst="rect">
            <a:avLst/>
          </a:prstGeom>
          <a:noFill/>
          <a:ln/>
        </p:spPr>
        <p:txBody>
          <a:bodyPr wrap="square" lIns="0" tIns="0" rIns="0" bIns="0" rtlCol="0" anchor="ctr"/>
          <a:lstStyle/>
          <a:p>
            <a:pPr marL="0" indent="0">
              <a:lnSpc>
                <a:spcPts val="1800"/>
              </a:lnSpc>
              <a:buNone/>
            </a:pPr>
            <a:r>
              <a:rPr lang="en-US" sz="1300" dirty="0">
                <a:solidFill>
                  <a:srgbClr val="4F5D75"/>
                </a:solidFill>
                <a:latin typeface="Segoe UI" pitchFamily="34" charset="0"/>
                <a:ea typeface="Segoe UI" pitchFamily="34" charset="-122"/>
                <a:cs typeface="Segoe UI" pitchFamily="34" charset="-120"/>
              </a:rPr>
              <a:t>Trip state is append-only and versioned; nothing is silently overwritten.</a:t>
            </a:r>
            <a:endParaRPr lang="en-US" sz="1300" dirty="0"/>
          </a:p>
        </p:txBody>
      </p:sp>
      <p:sp>
        <p:nvSpPr>
          <p:cNvPr id="30" name="Shape 28"/>
          <p:cNvSpPr/>
          <p:nvPr/>
        </p:nvSpPr>
        <p:spPr>
          <a:xfrm>
            <a:off x="6126480" y="4718304"/>
            <a:ext cx="5513832" cy="0"/>
          </a:xfrm>
          <a:prstGeom prst="line">
            <a:avLst/>
          </a:prstGeom>
          <a:noFill/>
          <a:ln w="12700">
            <a:solidFill>
              <a:srgbClr val="D9D9DE"/>
            </a:solidFill>
            <a:prstDash val="solid"/>
          </a:ln>
        </p:spPr>
        <p:txBody>
          <a:bodyPr/>
          <a:lstStyle/>
          <a:p>
            <a:endParaRPr/>
          </a:p>
        </p:txBody>
      </p:sp>
      <p:sp>
        <p:nvSpPr>
          <p:cNvPr id="31" name="Text 29"/>
          <p:cNvSpPr/>
          <p:nvPr/>
        </p:nvSpPr>
        <p:spPr>
          <a:xfrm>
            <a:off x="6126480" y="4846320"/>
            <a:ext cx="5486400" cy="292608"/>
          </a:xfrm>
          <a:prstGeom prst="rect">
            <a:avLst/>
          </a:prstGeom>
          <a:noFill/>
          <a:ln/>
        </p:spPr>
        <p:txBody>
          <a:bodyPr wrap="square" lIns="0" tIns="0" rIns="0" bIns="0" rtlCol="0" anchor="ctr"/>
          <a:lstStyle/>
          <a:p>
            <a:pPr marL="0" indent="0">
              <a:buNone/>
            </a:pPr>
            <a:r>
              <a:rPr lang="en-US" sz="1500" b="1" dirty="0">
                <a:solidFill>
                  <a:srgbClr val="2D3142"/>
                </a:solidFill>
                <a:latin typeface="Segoe UI" pitchFamily="34" charset="0"/>
                <a:ea typeface="Segoe UI" pitchFamily="34" charset="-122"/>
                <a:cs typeface="Segoe UI" pitchFamily="34" charset="-120"/>
              </a:rPr>
              <a:t>A 'no' is a conversation</a:t>
            </a:r>
            <a:endParaRPr lang="en-US" sz="1500" dirty="0"/>
          </a:p>
        </p:txBody>
      </p:sp>
      <p:sp>
        <p:nvSpPr>
          <p:cNvPr id="32" name="Text 30"/>
          <p:cNvSpPr/>
          <p:nvPr/>
        </p:nvSpPr>
        <p:spPr>
          <a:xfrm>
            <a:off x="6126480" y="5175504"/>
            <a:ext cx="5486400" cy="777240"/>
          </a:xfrm>
          <a:prstGeom prst="rect">
            <a:avLst/>
          </a:prstGeom>
          <a:noFill/>
          <a:ln/>
        </p:spPr>
        <p:txBody>
          <a:bodyPr wrap="square" lIns="0" tIns="0" rIns="0" bIns="0" rtlCol="0" anchor="ctr"/>
          <a:lstStyle/>
          <a:p>
            <a:pPr marL="0" indent="0">
              <a:lnSpc>
                <a:spcPts val="1800"/>
              </a:lnSpc>
              <a:buNone/>
            </a:pPr>
            <a:r>
              <a:rPr lang="en-US" sz="1300" dirty="0">
                <a:solidFill>
                  <a:srgbClr val="4F5D75"/>
                </a:solidFill>
                <a:latin typeface="Segoe UI" pitchFamily="34" charset="0"/>
                <a:ea typeface="Segoe UI" pitchFamily="34" charset="-122"/>
                <a:cs typeface="Segoe UI" pitchFamily="34" charset="-120"/>
              </a:rPr>
              <a:t>The AI analyses why members rejected and returns with a compromise proposal.</a:t>
            </a:r>
            <a:endParaRPr lang="en-US" sz="1300" dirty="0"/>
          </a:p>
        </p:txBody>
      </p:sp>
      <p:sp>
        <p:nvSpPr>
          <p:cNvPr id="33" name="Text 31"/>
          <p:cNvSpPr/>
          <p:nvPr/>
        </p:nvSpPr>
        <p:spPr>
          <a:xfrm>
            <a:off x="11274552" y="6382512"/>
            <a:ext cx="457200" cy="274320"/>
          </a:xfrm>
          <a:prstGeom prst="rect">
            <a:avLst/>
          </a:prstGeom>
          <a:noFill/>
          <a:ln/>
        </p:spPr>
        <p:txBody>
          <a:bodyPr wrap="square" lIns="0" tIns="0" rIns="0" bIns="0" rtlCol="0" anchor="ctr"/>
          <a:lstStyle/>
          <a:p>
            <a:pPr marL="0" indent="0" algn="r">
              <a:buNone/>
            </a:pPr>
            <a:r>
              <a:rPr lang="en-US" sz="1200" dirty="0">
                <a:solidFill>
                  <a:srgbClr val="7A8399"/>
                </a:solidFill>
                <a:latin typeface="Segoe UI" pitchFamily="34" charset="0"/>
                <a:ea typeface="Segoe UI" pitchFamily="34" charset="-122"/>
                <a:cs typeface="Segoe UI"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548640" y="475488"/>
            <a:ext cx="8229600" cy="292608"/>
          </a:xfrm>
          <a:prstGeom prst="rect">
            <a:avLst/>
          </a:prstGeom>
          <a:noFill/>
          <a:ln/>
        </p:spPr>
        <p:txBody>
          <a:bodyPr wrap="square" lIns="0" tIns="0" rIns="0" bIns="0" rtlCol="0" anchor="ctr"/>
          <a:lstStyle/>
          <a:p>
            <a:pPr marL="0" indent="0">
              <a:buNone/>
            </a:pPr>
            <a:r>
              <a:rPr lang="en-US" sz="1200" b="1" kern="0" spc="400" dirty="0">
                <a:solidFill>
                  <a:srgbClr val="4F5D75"/>
                </a:solidFill>
                <a:latin typeface="Segoe UI" pitchFamily="34" charset="0"/>
                <a:ea typeface="Segoe UI" pitchFamily="34" charset="-122"/>
                <a:cs typeface="Segoe UI" pitchFamily="34" charset="-120"/>
              </a:rPr>
              <a:t>DEMO · 4 — DYNAMIC REPLANNING</a:t>
            </a:r>
            <a:endParaRPr lang="en-US" sz="1200" dirty="0"/>
          </a:p>
        </p:txBody>
      </p:sp>
      <p:sp>
        <p:nvSpPr>
          <p:cNvPr id="3" name="Text 1"/>
          <p:cNvSpPr/>
          <p:nvPr/>
        </p:nvSpPr>
        <p:spPr>
          <a:xfrm>
            <a:off x="548640" y="841248"/>
            <a:ext cx="11091672" cy="914400"/>
          </a:xfrm>
          <a:prstGeom prst="rect">
            <a:avLst/>
          </a:prstGeom>
          <a:noFill/>
          <a:ln/>
        </p:spPr>
        <p:txBody>
          <a:bodyPr wrap="square" lIns="0" tIns="0" rIns="0" bIns="0" rtlCol="0" anchor="ctr"/>
          <a:lstStyle/>
          <a:p>
            <a:pPr marL="0" indent="0">
              <a:buNone/>
            </a:pPr>
            <a:r>
              <a:rPr lang="en-US" sz="2800" dirty="0">
                <a:solidFill>
                  <a:srgbClr val="2D3142"/>
                </a:solidFill>
                <a:latin typeface="Georgia" pitchFamily="34" charset="0"/>
                <a:ea typeface="Georgia" pitchFamily="34" charset="-122"/>
                <a:cs typeface="Georgia" pitchFamily="34" charset="-120"/>
              </a:rPr>
              <a:t>When reality breaks the plan, the loop closes itself</a:t>
            </a:r>
            <a:endParaRPr lang="en-US" sz="2800" dirty="0"/>
          </a:p>
        </p:txBody>
      </p:sp>
      <p:sp>
        <p:nvSpPr>
          <p:cNvPr id="4" name="Shape 2"/>
          <p:cNvSpPr/>
          <p:nvPr/>
        </p:nvSpPr>
        <p:spPr>
          <a:xfrm>
            <a:off x="548640" y="2112264"/>
            <a:ext cx="5394960" cy="0"/>
          </a:xfrm>
          <a:prstGeom prst="line">
            <a:avLst/>
          </a:prstGeom>
          <a:noFill/>
          <a:ln w="12700">
            <a:solidFill>
              <a:srgbClr val="D9D9DE"/>
            </a:solidFill>
            <a:prstDash val="solid"/>
          </a:ln>
        </p:spPr>
        <p:txBody>
          <a:bodyPr/>
          <a:lstStyle/>
          <a:p>
            <a:endParaRPr/>
          </a:p>
        </p:txBody>
      </p:sp>
      <p:sp>
        <p:nvSpPr>
          <p:cNvPr id="5" name="Text 3"/>
          <p:cNvSpPr/>
          <p:nvPr/>
        </p:nvSpPr>
        <p:spPr>
          <a:xfrm>
            <a:off x="548640" y="2240280"/>
            <a:ext cx="5394960" cy="292608"/>
          </a:xfrm>
          <a:prstGeom prst="rect">
            <a:avLst/>
          </a:prstGeom>
          <a:noFill/>
          <a:ln/>
        </p:spPr>
        <p:txBody>
          <a:bodyPr wrap="square" lIns="0" tIns="0" rIns="0" bIns="0" rtlCol="0" anchor="ctr"/>
          <a:lstStyle/>
          <a:p>
            <a:pPr marL="0" indent="0">
              <a:buNone/>
            </a:pPr>
            <a:r>
              <a:rPr lang="en-US" sz="1500" b="1" dirty="0">
                <a:solidFill>
                  <a:srgbClr val="2D3142"/>
                </a:solidFill>
                <a:latin typeface="Segoe UI" pitchFamily="34" charset="0"/>
                <a:ea typeface="Segoe UI" pitchFamily="34" charset="-122"/>
                <a:cs typeface="Segoe UI" pitchFamily="34" charset="-120"/>
              </a:rPr>
              <a:t>Events hit the plan</a:t>
            </a:r>
            <a:endParaRPr lang="en-US" sz="1500" dirty="0"/>
          </a:p>
        </p:txBody>
      </p:sp>
      <p:sp>
        <p:nvSpPr>
          <p:cNvPr id="6" name="Text 4"/>
          <p:cNvSpPr/>
          <p:nvPr/>
        </p:nvSpPr>
        <p:spPr>
          <a:xfrm>
            <a:off x="548640" y="2569464"/>
            <a:ext cx="5394960" cy="822960"/>
          </a:xfrm>
          <a:prstGeom prst="rect">
            <a:avLst/>
          </a:prstGeom>
          <a:noFill/>
          <a:ln/>
        </p:spPr>
        <p:txBody>
          <a:bodyPr wrap="square" lIns="0" tIns="0" rIns="0" bIns="0" rtlCol="0" anchor="ctr"/>
          <a:lstStyle/>
          <a:p>
            <a:pPr marL="0" indent="0">
              <a:lnSpc>
                <a:spcPts val="1800"/>
              </a:lnSpc>
              <a:buNone/>
            </a:pPr>
            <a:r>
              <a:rPr lang="en-US" sz="1300" dirty="0">
                <a:solidFill>
                  <a:srgbClr val="4F5D75"/>
                </a:solidFill>
                <a:latin typeface="Segoe UI" pitchFamily="34" charset="0"/>
                <a:ea typeface="Segoe UI" pitchFamily="34" charset="-122"/>
                <a:cs typeface="Segoe UI" pitchFamily="34" charset="-120"/>
              </a:rPr>
              <a:t>A delayed flight, rain on Day 3 — triggers land on the live itinerary.</a:t>
            </a:r>
            <a:endParaRPr lang="en-US" sz="1300" dirty="0"/>
          </a:p>
        </p:txBody>
      </p:sp>
      <p:sp>
        <p:nvSpPr>
          <p:cNvPr id="7" name="Shape 5"/>
          <p:cNvSpPr/>
          <p:nvPr/>
        </p:nvSpPr>
        <p:spPr>
          <a:xfrm>
            <a:off x="548640" y="3410712"/>
            <a:ext cx="5394960" cy="0"/>
          </a:xfrm>
          <a:prstGeom prst="line">
            <a:avLst/>
          </a:prstGeom>
          <a:noFill/>
          <a:ln w="12700">
            <a:solidFill>
              <a:srgbClr val="D9D9DE"/>
            </a:solidFill>
            <a:prstDash val="solid"/>
          </a:ln>
        </p:spPr>
        <p:txBody>
          <a:bodyPr/>
          <a:lstStyle/>
          <a:p>
            <a:endParaRPr/>
          </a:p>
        </p:txBody>
      </p:sp>
      <p:sp>
        <p:nvSpPr>
          <p:cNvPr id="8" name="Text 6"/>
          <p:cNvSpPr/>
          <p:nvPr/>
        </p:nvSpPr>
        <p:spPr>
          <a:xfrm>
            <a:off x="548640" y="3538728"/>
            <a:ext cx="5394960" cy="292608"/>
          </a:xfrm>
          <a:prstGeom prst="rect">
            <a:avLst/>
          </a:prstGeom>
          <a:noFill/>
          <a:ln/>
        </p:spPr>
        <p:txBody>
          <a:bodyPr wrap="square" lIns="0" tIns="0" rIns="0" bIns="0" rtlCol="0" anchor="ctr"/>
          <a:lstStyle/>
          <a:p>
            <a:pPr marL="0" indent="0">
              <a:buNone/>
            </a:pPr>
            <a:r>
              <a:rPr lang="en-US" sz="1500" b="1" dirty="0">
                <a:solidFill>
                  <a:srgbClr val="2D3142"/>
                </a:solidFill>
                <a:latin typeface="Segoe UI" pitchFamily="34" charset="0"/>
                <a:ea typeface="Segoe UI" pitchFamily="34" charset="-122"/>
                <a:cs typeface="Segoe UI" pitchFamily="34" charset="-120"/>
              </a:rPr>
              <a:t>Impact is computed</a:t>
            </a:r>
            <a:endParaRPr lang="en-US" sz="1500" dirty="0"/>
          </a:p>
        </p:txBody>
      </p:sp>
      <p:sp>
        <p:nvSpPr>
          <p:cNvPr id="9" name="Text 7"/>
          <p:cNvSpPr/>
          <p:nvPr/>
        </p:nvSpPr>
        <p:spPr>
          <a:xfrm>
            <a:off x="548640" y="3867912"/>
            <a:ext cx="5394960" cy="822960"/>
          </a:xfrm>
          <a:prstGeom prst="rect">
            <a:avLst/>
          </a:prstGeom>
          <a:noFill/>
          <a:ln/>
        </p:spPr>
        <p:txBody>
          <a:bodyPr wrap="square" lIns="0" tIns="0" rIns="0" bIns="0" rtlCol="0" anchor="ctr"/>
          <a:lstStyle/>
          <a:p>
            <a:pPr marL="0" indent="0">
              <a:lnSpc>
                <a:spcPts val="1800"/>
              </a:lnSpc>
              <a:buNone/>
            </a:pPr>
            <a:r>
              <a:rPr lang="en-US" sz="1300" dirty="0">
                <a:solidFill>
                  <a:srgbClr val="4F5D75"/>
                </a:solidFill>
                <a:latin typeface="Segoe UI" pitchFamily="34" charset="0"/>
                <a:ea typeface="Segoe UI" pitchFamily="34" charset="-122"/>
                <a:cs typeface="Segoe UI" pitchFamily="34" charset="-120"/>
              </a:rPr>
              <a:t>The AI matches the event against every activity: times, travel legs, weather, opening hours.</a:t>
            </a:r>
            <a:endParaRPr lang="en-US" sz="1300" dirty="0"/>
          </a:p>
        </p:txBody>
      </p:sp>
      <p:sp>
        <p:nvSpPr>
          <p:cNvPr id="10" name="Shape 8"/>
          <p:cNvSpPr/>
          <p:nvPr/>
        </p:nvSpPr>
        <p:spPr>
          <a:xfrm>
            <a:off x="548640" y="4709160"/>
            <a:ext cx="5394960" cy="0"/>
          </a:xfrm>
          <a:prstGeom prst="line">
            <a:avLst/>
          </a:prstGeom>
          <a:noFill/>
          <a:ln w="12700">
            <a:solidFill>
              <a:srgbClr val="D9D9DE"/>
            </a:solidFill>
            <a:prstDash val="solid"/>
          </a:ln>
        </p:spPr>
        <p:txBody>
          <a:bodyPr/>
          <a:lstStyle/>
          <a:p>
            <a:endParaRPr/>
          </a:p>
        </p:txBody>
      </p:sp>
      <p:sp>
        <p:nvSpPr>
          <p:cNvPr id="11" name="Text 9"/>
          <p:cNvSpPr/>
          <p:nvPr/>
        </p:nvSpPr>
        <p:spPr>
          <a:xfrm>
            <a:off x="548640" y="4837176"/>
            <a:ext cx="5394960" cy="292608"/>
          </a:xfrm>
          <a:prstGeom prst="rect">
            <a:avLst/>
          </a:prstGeom>
          <a:noFill/>
          <a:ln/>
        </p:spPr>
        <p:txBody>
          <a:bodyPr wrap="square" lIns="0" tIns="0" rIns="0" bIns="0" rtlCol="0" anchor="ctr"/>
          <a:lstStyle/>
          <a:p>
            <a:pPr marL="0" indent="0">
              <a:buNone/>
            </a:pPr>
            <a:r>
              <a:rPr lang="en-US" sz="1500" b="1" dirty="0">
                <a:solidFill>
                  <a:srgbClr val="2D3142"/>
                </a:solidFill>
                <a:latin typeface="Segoe UI" pitchFamily="34" charset="0"/>
                <a:ea typeface="Segoe UI" pitchFamily="34" charset="-122"/>
                <a:cs typeface="Segoe UI" pitchFamily="34" charset="-120"/>
              </a:rPr>
              <a:t>Same vote loop</a:t>
            </a:r>
            <a:endParaRPr lang="en-US" sz="1500" dirty="0"/>
          </a:p>
        </p:txBody>
      </p:sp>
      <p:sp>
        <p:nvSpPr>
          <p:cNvPr id="12" name="Text 10"/>
          <p:cNvSpPr/>
          <p:nvPr/>
        </p:nvSpPr>
        <p:spPr>
          <a:xfrm>
            <a:off x="548640" y="5166360"/>
            <a:ext cx="5394960" cy="822960"/>
          </a:xfrm>
          <a:prstGeom prst="rect">
            <a:avLst/>
          </a:prstGeom>
          <a:noFill/>
          <a:ln/>
        </p:spPr>
        <p:txBody>
          <a:bodyPr wrap="square" lIns="0" tIns="0" rIns="0" bIns="0" rtlCol="0" anchor="ctr"/>
          <a:lstStyle/>
          <a:p>
            <a:pPr marL="0" indent="0">
              <a:lnSpc>
                <a:spcPts val="1800"/>
              </a:lnSpc>
              <a:buNone/>
            </a:pPr>
            <a:r>
              <a:rPr lang="en-US" sz="1300" dirty="0">
                <a:solidFill>
                  <a:srgbClr val="4F5D75"/>
                </a:solidFill>
                <a:latin typeface="Segoe UI" pitchFamily="34" charset="0"/>
                <a:ea typeface="Segoe UI" pitchFamily="34" charset="-122"/>
                <a:cs typeface="Segoe UI" pitchFamily="34" charset="-120"/>
              </a:rPr>
              <a:t>A backup proposal enters the exact same proposal → vote → version flow. Approved means itinerary v+1.</a:t>
            </a:r>
            <a:endParaRPr lang="en-US" sz="1300" dirty="0"/>
          </a:p>
        </p:txBody>
      </p:sp>
      <p:pic>
        <p:nvPicPr>
          <p:cNvPr id="13" name="Image 0" descr="C:/Users/weixu/Tripify/docs/diagrams/replanning-flow.png"/>
          <p:cNvPicPr>
            <a:picLocks noChangeAspect="1"/>
          </p:cNvPicPr>
          <p:nvPr/>
        </p:nvPicPr>
        <p:blipFill>
          <a:blip r:embed="rId3"/>
          <a:stretch>
            <a:fillRect/>
          </a:stretch>
        </p:blipFill>
        <p:spPr>
          <a:xfrm>
            <a:off x="6309360" y="2103120"/>
            <a:ext cx="5303520" cy="3291840"/>
          </a:xfrm>
          <a:prstGeom prst="rect">
            <a:avLst/>
          </a:prstGeom>
        </p:spPr>
      </p:pic>
      <p:sp>
        <p:nvSpPr>
          <p:cNvPr id="14" name="Text 11"/>
          <p:cNvSpPr/>
          <p:nvPr/>
        </p:nvSpPr>
        <p:spPr>
          <a:xfrm>
            <a:off x="6309360" y="5486400"/>
            <a:ext cx="5303520" cy="274320"/>
          </a:xfrm>
          <a:prstGeom prst="rect">
            <a:avLst/>
          </a:prstGeom>
          <a:noFill/>
          <a:ln/>
        </p:spPr>
        <p:txBody>
          <a:bodyPr wrap="square" lIns="0" tIns="0" rIns="0" bIns="0" rtlCol="0" anchor="ctr"/>
          <a:lstStyle/>
          <a:p>
            <a:pPr marL="0" indent="0" algn="ctr">
              <a:buNone/>
            </a:pPr>
            <a:r>
              <a:rPr lang="en-US" sz="1200" dirty="0">
                <a:solidFill>
                  <a:srgbClr val="7A8399"/>
                </a:solidFill>
                <a:latin typeface="Segoe UI" pitchFamily="34" charset="0"/>
                <a:ea typeface="Segoe UI" pitchFamily="34" charset="-122"/>
                <a:cs typeface="Segoe UI" pitchFamily="34" charset="-120"/>
              </a:rPr>
              <a:t>A rejected backup proposal loops back as a compromise — never a dead end</a:t>
            </a:r>
            <a:endParaRPr lang="en-US" sz="1200" dirty="0"/>
          </a:p>
        </p:txBody>
      </p:sp>
      <p:sp>
        <p:nvSpPr>
          <p:cNvPr id="15" name="Text 12"/>
          <p:cNvSpPr/>
          <p:nvPr/>
        </p:nvSpPr>
        <p:spPr>
          <a:xfrm>
            <a:off x="11274552" y="6382512"/>
            <a:ext cx="457200" cy="274320"/>
          </a:xfrm>
          <a:prstGeom prst="rect">
            <a:avLst/>
          </a:prstGeom>
          <a:noFill/>
          <a:ln/>
        </p:spPr>
        <p:txBody>
          <a:bodyPr wrap="square" lIns="0" tIns="0" rIns="0" bIns="0" rtlCol="0" anchor="ctr"/>
          <a:lstStyle/>
          <a:p>
            <a:pPr marL="0" indent="0" algn="r">
              <a:buNone/>
            </a:pPr>
            <a:r>
              <a:rPr lang="en-US" sz="1200" dirty="0">
                <a:solidFill>
                  <a:srgbClr val="7A8399"/>
                </a:solidFill>
                <a:latin typeface="Segoe UI" pitchFamily="34" charset="0"/>
                <a:ea typeface="Segoe UI" pitchFamily="34" charset="-122"/>
                <a:cs typeface="Segoe UI"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548640" y="475488"/>
            <a:ext cx="8229600" cy="292608"/>
          </a:xfrm>
          <a:prstGeom prst="rect">
            <a:avLst/>
          </a:prstGeom>
          <a:noFill/>
          <a:ln/>
        </p:spPr>
        <p:txBody>
          <a:bodyPr wrap="square" lIns="0" tIns="0" rIns="0" bIns="0" rtlCol="0" anchor="ctr"/>
          <a:lstStyle/>
          <a:p>
            <a:pPr marL="0" indent="0">
              <a:buNone/>
            </a:pPr>
            <a:r>
              <a:rPr lang="en-US" sz="1200" b="1" kern="0" spc="400" dirty="0">
                <a:solidFill>
                  <a:srgbClr val="4F5D75"/>
                </a:solidFill>
                <a:latin typeface="Segoe UI" pitchFamily="34" charset="0"/>
                <a:ea typeface="Segoe UI" pitchFamily="34" charset="-122"/>
                <a:cs typeface="Segoe UI" pitchFamily="34" charset="-120"/>
              </a:rPr>
              <a:t>TECH STACK</a:t>
            </a:r>
            <a:endParaRPr lang="en-US" sz="1200" dirty="0"/>
          </a:p>
        </p:txBody>
      </p:sp>
      <p:sp>
        <p:nvSpPr>
          <p:cNvPr id="3" name="Text 1"/>
          <p:cNvSpPr/>
          <p:nvPr/>
        </p:nvSpPr>
        <p:spPr>
          <a:xfrm>
            <a:off x="548640" y="841248"/>
            <a:ext cx="11091672" cy="914400"/>
          </a:xfrm>
          <a:prstGeom prst="rect">
            <a:avLst/>
          </a:prstGeom>
          <a:noFill/>
          <a:ln/>
        </p:spPr>
        <p:txBody>
          <a:bodyPr wrap="square" lIns="0" tIns="0" rIns="0" bIns="0" rtlCol="0" anchor="ctr"/>
          <a:lstStyle/>
          <a:p>
            <a:pPr marL="0" indent="0">
              <a:buNone/>
            </a:pPr>
            <a:r>
              <a:rPr lang="en-US" sz="2800" dirty="0">
                <a:solidFill>
                  <a:srgbClr val="2D3142"/>
                </a:solidFill>
                <a:latin typeface="Georgia" pitchFamily="34" charset="0"/>
                <a:ea typeface="Georgia" pitchFamily="34" charset="-122"/>
                <a:cs typeface="Georgia" pitchFamily="34" charset="-120"/>
              </a:rPr>
              <a:t>Deliberately boring technology, so we can build fast</a:t>
            </a:r>
            <a:endParaRPr lang="en-US" sz="2800" dirty="0"/>
          </a:p>
        </p:txBody>
      </p:sp>
      <p:pic>
        <p:nvPicPr>
          <p:cNvPr id="4" name="Image 0" descr="C:/Users/weixu/Tripify/docs/diagrams/architecture.png"/>
          <p:cNvPicPr>
            <a:picLocks noChangeAspect="1"/>
          </p:cNvPicPr>
          <p:nvPr/>
        </p:nvPicPr>
        <p:blipFill>
          <a:blip r:embed="rId3"/>
          <a:stretch>
            <a:fillRect/>
          </a:stretch>
        </p:blipFill>
        <p:spPr>
          <a:xfrm>
            <a:off x="548640" y="2057400"/>
            <a:ext cx="5532120" cy="3877056"/>
          </a:xfrm>
          <a:prstGeom prst="rect">
            <a:avLst/>
          </a:prstGeom>
        </p:spPr>
      </p:pic>
      <p:sp>
        <p:nvSpPr>
          <p:cNvPr id="5" name="Text 2"/>
          <p:cNvSpPr/>
          <p:nvPr/>
        </p:nvSpPr>
        <p:spPr>
          <a:xfrm>
            <a:off x="6446520" y="2148840"/>
            <a:ext cx="1828800" cy="274320"/>
          </a:xfrm>
          <a:prstGeom prst="rect">
            <a:avLst/>
          </a:prstGeom>
          <a:noFill/>
          <a:ln/>
        </p:spPr>
        <p:txBody>
          <a:bodyPr wrap="square" lIns="0" tIns="0" rIns="0" bIns="0" rtlCol="0" anchor="ctr"/>
          <a:lstStyle/>
          <a:p>
            <a:pPr marL="0" indent="0">
              <a:buNone/>
            </a:pPr>
            <a:r>
              <a:rPr lang="en-US" sz="1200" b="1" kern="0" spc="100" dirty="0">
                <a:solidFill>
                  <a:srgbClr val="7A8399"/>
                </a:solidFill>
                <a:latin typeface="Segoe UI" pitchFamily="34" charset="0"/>
                <a:ea typeface="Segoe UI" pitchFamily="34" charset="-122"/>
                <a:cs typeface="Segoe UI" pitchFamily="34" charset="-120"/>
              </a:rPr>
              <a:t>FRONTEND</a:t>
            </a:r>
            <a:endParaRPr lang="en-US" sz="1200" dirty="0"/>
          </a:p>
        </p:txBody>
      </p:sp>
      <p:sp>
        <p:nvSpPr>
          <p:cNvPr id="6" name="Text 3"/>
          <p:cNvSpPr/>
          <p:nvPr/>
        </p:nvSpPr>
        <p:spPr>
          <a:xfrm>
            <a:off x="8366760" y="2121408"/>
            <a:ext cx="3291840" cy="566928"/>
          </a:xfrm>
          <a:prstGeom prst="rect">
            <a:avLst/>
          </a:prstGeom>
          <a:noFill/>
          <a:ln/>
        </p:spPr>
        <p:txBody>
          <a:bodyPr wrap="square" lIns="0" tIns="0" rIns="0" bIns="0" rtlCol="0" anchor="ctr"/>
          <a:lstStyle/>
          <a:p>
            <a:pPr marL="0" indent="0">
              <a:lnSpc>
                <a:spcPts val="1700"/>
              </a:lnSpc>
              <a:buNone/>
            </a:pPr>
            <a:r>
              <a:rPr lang="en-US" sz="1300" dirty="0">
                <a:solidFill>
                  <a:srgbClr val="2D3142"/>
                </a:solidFill>
                <a:latin typeface="Segoe UI" pitchFamily="34" charset="0"/>
                <a:ea typeface="Segoe UI" pitchFamily="34" charset="-122"/>
                <a:cs typeface="Segoe UI" pitchFamily="34" charset="-120"/>
              </a:rPr>
              <a:t>Next.js 15 · TypeScript · Tailwind · shadcn/ui</a:t>
            </a:r>
            <a:endParaRPr lang="en-US" sz="1300" dirty="0"/>
          </a:p>
        </p:txBody>
      </p:sp>
      <p:sp>
        <p:nvSpPr>
          <p:cNvPr id="7" name="Shape 4"/>
          <p:cNvSpPr/>
          <p:nvPr/>
        </p:nvSpPr>
        <p:spPr>
          <a:xfrm>
            <a:off x="6446520" y="2688336"/>
            <a:ext cx="5193792" cy="0"/>
          </a:xfrm>
          <a:prstGeom prst="line">
            <a:avLst/>
          </a:prstGeom>
          <a:noFill/>
          <a:ln w="12700">
            <a:solidFill>
              <a:srgbClr val="D9D9DE"/>
            </a:solidFill>
            <a:prstDash val="solid"/>
          </a:ln>
        </p:spPr>
        <p:txBody>
          <a:bodyPr/>
          <a:lstStyle/>
          <a:p>
            <a:endParaRPr/>
          </a:p>
        </p:txBody>
      </p:sp>
      <p:sp>
        <p:nvSpPr>
          <p:cNvPr id="8" name="Text 5"/>
          <p:cNvSpPr/>
          <p:nvPr/>
        </p:nvSpPr>
        <p:spPr>
          <a:xfrm>
            <a:off x="6446520" y="2807208"/>
            <a:ext cx="1828800" cy="274320"/>
          </a:xfrm>
          <a:prstGeom prst="rect">
            <a:avLst/>
          </a:prstGeom>
          <a:noFill/>
          <a:ln/>
        </p:spPr>
        <p:txBody>
          <a:bodyPr wrap="square" lIns="0" tIns="0" rIns="0" bIns="0" rtlCol="0" anchor="ctr"/>
          <a:lstStyle/>
          <a:p>
            <a:pPr marL="0" indent="0">
              <a:buNone/>
            </a:pPr>
            <a:r>
              <a:rPr lang="en-US" sz="1200" b="1" kern="0" spc="100" dirty="0">
                <a:solidFill>
                  <a:srgbClr val="7A8399"/>
                </a:solidFill>
                <a:latin typeface="Segoe UI" pitchFamily="34" charset="0"/>
                <a:ea typeface="Segoe UI" pitchFamily="34" charset="-122"/>
                <a:cs typeface="Segoe UI" pitchFamily="34" charset="-120"/>
              </a:rPr>
              <a:t>BACKEND</a:t>
            </a:r>
            <a:endParaRPr lang="en-US" sz="1200" dirty="0"/>
          </a:p>
        </p:txBody>
      </p:sp>
      <p:sp>
        <p:nvSpPr>
          <p:cNvPr id="9" name="Text 6"/>
          <p:cNvSpPr/>
          <p:nvPr/>
        </p:nvSpPr>
        <p:spPr>
          <a:xfrm>
            <a:off x="8366760" y="2779776"/>
            <a:ext cx="3291840" cy="566928"/>
          </a:xfrm>
          <a:prstGeom prst="rect">
            <a:avLst/>
          </a:prstGeom>
          <a:noFill/>
          <a:ln/>
        </p:spPr>
        <p:txBody>
          <a:bodyPr wrap="square" lIns="0" tIns="0" rIns="0" bIns="0" rtlCol="0" anchor="ctr"/>
          <a:lstStyle/>
          <a:p>
            <a:pPr marL="0" indent="0">
              <a:lnSpc>
                <a:spcPts val="1700"/>
              </a:lnSpc>
              <a:buNone/>
            </a:pPr>
            <a:r>
              <a:rPr lang="en-US" sz="1300" dirty="0">
                <a:solidFill>
                  <a:srgbClr val="2D3142"/>
                </a:solidFill>
                <a:latin typeface="Segoe UI" pitchFamily="34" charset="0"/>
                <a:ea typeface="Segoe UI" pitchFamily="34" charset="-122"/>
                <a:cs typeface="Segoe UI" pitchFamily="34" charset="-120"/>
              </a:rPr>
              <a:t>Next.js API routes + Server Actions — colocated, zero ops</a:t>
            </a:r>
            <a:endParaRPr lang="en-US" sz="1300" dirty="0"/>
          </a:p>
        </p:txBody>
      </p:sp>
      <p:sp>
        <p:nvSpPr>
          <p:cNvPr id="10" name="Shape 7"/>
          <p:cNvSpPr/>
          <p:nvPr/>
        </p:nvSpPr>
        <p:spPr>
          <a:xfrm>
            <a:off x="6446520" y="3346704"/>
            <a:ext cx="5193792" cy="0"/>
          </a:xfrm>
          <a:prstGeom prst="line">
            <a:avLst/>
          </a:prstGeom>
          <a:noFill/>
          <a:ln w="12700">
            <a:solidFill>
              <a:srgbClr val="D9D9DE"/>
            </a:solidFill>
            <a:prstDash val="solid"/>
          </a:ln>
        </p:spPr>
        <p:txBody>
          <a:bodyPr/>
          <a:lstStyle/>
          <a:p>
            <a:endParaRPr/>
          </a:p>
        </p:txBody>
      </p:sp>
      <p:sp>
        <p:nvSpPr>
          <p:cNvPr id="11" name="Text 8"/>
          <p:cNvSpPr/>
          <p:nvPr/>
        </p:nvSpPr>
        <p:spPr>
          <a:xfrm>
            <a:off x="6446520" y="3465576"/>
            <a:ext cx="1828800" cy="274320"/>
          </a:xfrm>
          <a:prstGeom prst="rect">
            <a:avLst/>
          </a:prstGeom>
          <a:noFill/>
          <a:ln/>
        </p:spPr>
        <p:txBody>
          <a:bodyPr wrap="square" lIns="0" tIns="0" rIns="0" bIns="0" rtlCol="0" anchor="ctr"/>
          <a:lstStyle/>
          <a:p>
            <a:pPr marL="0" indent="0">
              <a:buNone/>
            </a:pPr>
            <a:r>
              <a:rPr lang="en-US" sz="1200" b="1" kern="0" spc="100" dirty="0">
                <a:solidFill>
                  <a:srgbClr val="7A8399"/>
                </a:solidFill>
                <a:latin typeface="Segoe UI" pitchFamily="34" charset="0"/>
                <a:ea typeface="Segoe UI" pitchFamily="34" charset="-122"/>
                <a:cs typeface="Segoe UI" pitchFamily="34" charset="-120"/>
              </a:rPr>
              <a:t>DATA</a:t>
            </a:r>
            <a:endParaRPr lang="en-US" sz="1200" dirty="0"/>
          </a:p>
        </p:txBody>
      </p:sp>
      <p:sp>
        <p:nvSpPr>
          <p:cNvPr id="12" name="Text 9"/>
          <p:cNvSpPr/>
          <p:nvPr/>
        </p:nvSpPr>
        <p:spPr>
          <a:xfrm>
            <a:off x="8366760" y="3438144"/>
            <a:ext cx="3291840" cy="566928"/>
          </a:xfrm>
          <a:prstGeom prst="rect">
            <a:avLst/>
          </a:prstGeom>
          <a:noFill/>
          <a:ln/>
        </p:spPr>
        <p:txBody>
          <a:bodyPr wrap="square" lIns="0" tIns="0" rIns="0" bIns="0" rtlCol="0" anchor="ctr"/>
          <a:lstStyle/>
          <a:p>
            <a:pPr marL="0" indent="0">
              <a:lnSpc>
                <a:spcPts val="1700"/>
              </a:lnSpc>
              <a:buNone/>
            </a:pPr>
            <a:r>
              <a:rPr lang="en-US" sz="1300" dirty="0">
                <a:solidFill>
                  <a:srgbClr val="2D3142"/>
                </a:solidFill>
                <a:latin typeface="Segoe UI" pitchFamily="34" charset="0"/>
                <a:ea typeface="Segoe UI" pitchFamily="34" charset="-122"/>
                <a:cs typeface="Segoe UI" pitchFamily="34" charset="-120"/>
              </a:rPr>
              <a:t>Supabase — Postgres, Auth, Realtime, Row Level Security</a:t>
            </a:r>
            <a:endParaRPr lang="en-US" sz="1300" dirty="0"/>
          </a:p>
        </p:txBody>
      </p:sp>
      <p:sp>
        <p:nvSpPr>
          <p:cNvPr id="13" name="Shape 10"/>
          <p:cNvSpPr/>
          <p:nvPr/>
        </p:nvSpPr>
        <p:spPr>
          <a:xfrm>
            <a:off x="6446520" y="4005072"/>
            <a:ext cx="5193792" cy="0"/>
          </a:xfrm>
          <a:prstGeom prst="line">
            <a:avLst/>
          </a:prstGeom>
          <a:noFill/>
          <a:ln w="12700">
            <a:solidFill>
              <a:srgbClr val="D9D9DE"/>
            </a:solidFill>
            <a:prstDash val="solid"/>
          </a:ln>
        </p:spPr>
        <p:txBody>
          <a:bodyPr/>
          <a:lstStyle/>
          <a:p>
            <a:endParaRPr/>
          </a:p>
        </p:txBody>
      </p:sp>
      <p:sp>
        <p:nvSpPr>
          <p:cNvPr id="14" name="Text 11"/>
          <p:cNvSpPr/>
          <p:nvPr/>
        </p:nvSpPr>
        <p:spPr>
          <a:xfrm>
            <a:off x="6446520" y="4123944"/>
            <a:ext cx="1828800" cy="274320"/>
          </a:xfrm>
          <a:prstGeom prst="rect">
            <a:avLst/>
          </a:prstGeom>
          <a:noFill/>
          <a:ln/>
        </p:spPr>
        <p:txBody>
          <a:bodyPr wrap="square" lIns="0" tIns="0" rIns="0" bIns="0" rtlCol="0" anchor="ctr"/>
          <a:lstStyle/>
          <a:p>
            <a:pPr marL="0" indent="0">
              <a:buNone/>
            </a:pPr>
            <a:r>
              <a:rPr lang="en-US" sz="1200" b="1" kern="0" spc="100" dirty="0">
                <a:solidFill>
                  <a:srgbClr val="7A8399"/>
                </a:solidFill>
                <a:latin typeface="Segoe UI" pitchFamily="34" charset="0"/>
                <a:ea typeface="Segoe UI" pitchFamily="34" charset="-122"/>
                <a:cs typeface="Segoe UI" pitchFamily="34" charset="-120"/>
              </a:rPr>
              <a:t>AI</a:t>
            </a:r>
            <a:endParaRPr lang="en-US" sz="1200" dirty="0"/>
          </a:p>
        </p:txBody>
      </p:sp>
      <p:sp>
        <p:nvSpPr>
          <p:cNvPr id="15" name="Text 12"/>
          <p:cNvSpPr/>
          <p:nvPr/>
        </p:nvSpPr>
        <p:spPr>
          <a:xfrm>
            <a:off x="8366760" y="4096512"/>
            <a:ext cx="3291840" cy="566928"/>
          </a:xfrm>
          <a:prstGeom prst="rect">
            <a:avLst/>
          </a:prstGeom>
          <a:noFill/>
          <a:ln/>
        </p:spPr>
        <p:txBody>
          <a:bodyPr wrap="square" lIns="0" tIns="0" rIns="0" bIns="0" rtlCol="0" anchor="ctr"/>
          <a:lstStyle/>
          <a:p>
            <a:pPr marL="0" indent="0">
              <a:lnSpc>
                <a:spcPts val="1700"/>
              </a:lnSpc>
              <a:buNone/>
            </a:pPr>
            <a:r>
              <a:rPr lang="en-US" sz="1300" dirty="0">
                <a:solidFill>
                  <a:srgbClr val="2D3142"/>
                </a:solidFill>
                <a:latin typeface="Segoe UI" pitchFamily="34" charset="0"/>
                <a:ea typeface="Segoe UI" pitchFamily="34" charset="-122"/>
                <a:cs typeface="Segoe UI" pitchFamily="34" charset="-120"/>
              </a:rPr>
              <a:t>OpenRouter + LangChain — tool-calling, structured output</a:t>
            </a:r>
            <a:endParaRPr lang="en-US" sz="1300" dirty="0"/>
          </a:p>
        </p:txBody>
      </p:sp>
      <p:sp>
        <p:nvSpPr>
          <p:cNvPr id="16" name="Shape 13"/>
          <p:cNvSpPr/>
          <p:nvPr/>
        </p:nvSpPr>
        <p:spPr>
          <a:xfrm>
            <a:off x="6446520" y="4663440"/>
            <a:ext cx="5193792" cy="0"/>
          </a:xfrm>
          <a:prstGeom prst="line">
            <a:avLst/>
          </a:prstGeom>
          <a:noFill/>
          <a:ln w="12700">
            <a:solidFill>
              <a:srgbClr val="D9D9DE"/>
            </a:solidFill>
            <a:prstDash val="solid"/>
          </a:ln>
        </p:spPr>
        <p:txBody>
          <a:bodyPr/>
          <a:lstStyle/>
          <a:p>
            <a:endParaRPr/>
          </a:p>
        </p:txBody>
      </p:sp>
      <p:sp>
        <p:nvSpPr>
          <p:cNvPr id="17" name="Text 14"/>
          <p:cNvSpPr/>
          <p:nvPr/>
        </p:nvSpPr>
        <p:spPr>
          <a:xfrm>
            <a:off x="6446520" y="4782312"/>
            <a:ext cx="1828800" cy="274320"/>
          </a:xfrm>
          <a:prstGeom prst="rect">
            <a:avLst/>
          </a:prstGeom>
          <a:noFill/>
          <a:ln/>
        </p:spPr>
        <p:txBody>
          <a:bodyPr wrap="square" lIns="0" tIns="0" rIns="0" bIns="0" rtlCol="0" anchor="ctr"/>
          <a:lstStyle/>
          <a:p>
            <a:pPr marL="0" indent="0">
              <a:buNone/>
            </a:pPr>
            <a:r>
              <a:rPr lang="en-US" sz="1200" b="1" kern="0" spc="100" dirty="0">
                <a:solidFill>
                  <a:srgbClr val="7A8399"/>
                </a:solidFill>
                <a:latin typeface="Segoe UI" pitchFamily="34" charset="0"/>
                <a:ea typeface="Segoe UI" pitchFamily="34" charset="-122"/>
                <a:cs typeface="Segoe UI" pitchFamily="34" charset="-120"/>
              </a:rPr>
              <a:t>SERVICES</a:t>
            </a:r>
            <a:endParaRPr lang="en-US" sz="1200" dirty="0"/>
          </a:p>
        </p:txBody>
      </p:sp>
      <p:sp>
        <p:nvSpPr>
          <p:cNvPr id="18" name="Text 15"/>
          <p:cNvSpPr/>
          <p:nvPr/>
        </p:nvSpPr>
        <p:spPr>
          <a:xfrm>
            <a:off x="8366760" y="4754880"/>
            <a:ext cx="3291840" cy="566928"/>
          </a:xfrm>
          <a:prstGeom prst="rect">
            <a:avLst/>
          </a:prstGeom>
          <a:noFill/>
          <a:ln/>
        </p:spPr>
        <p:txBody>
          <a:bodyPr wrap="square" lIns="0" tIns="0" rIns="0" bIns="0" rtlCol="0" anchor="ctr"/>
          <a:lstStyle/>
          <a:p>
            <a:pPr marL="0" indent="0">
              <a:lnSpc>
                <a:spcPts val="1700"/>
              </a:lnSpc>
              <a:buNone/>
            </a:pPr>
            <a:r>
              <a:rPr lang="en-US" sz="1300" dirty="0">
                <a:solidFill>
                  <a:srgbClr val="2D3142"/>
                </a:solidFill>
                <a:latin typeface="Segoe UI" pitchFamily="34" charset="0"/>
                <a:ea typeface="Segoe UI" pitchFamily="34" charset="-122"/>
                <a:cs typeface="Segoe UI" pitchFamily="34" charset="-120"/>
              </a:rPr>
              <a:t>Google Places &amp; Routes · Open-Meteo · web search</a:t>
            </a:r>
            <a:endParaRPr lang="en-US" sz="1300" dirty="0"/>
          </a:p>
        </p:txBody>
      </p:sp>
      <p:sp>
        <p:nvSpPr>
          <p:cNvPr id="19" name="Shape 16"/>
          <p:cNvSpPr/>
          <p:nvPr/>
        </p:nvSpPr>
        <p:spPr>
          <a:xfrm>
            <a:off x="6446520" y="5321808"/>
            <a:ext cx="5193792" cy="0"/>
          </a:xfrm>
          <a:prstGeom prst="line">
            <a:avLst/>
          </a:prstGeom>
          <a:noFill/>
          <a:ln w="12700">
            <a:solidFill>
              <a:srgbClr val="D9D9DE"/>
            </a:solidFill>
            <a:prstDash val="solid"/>
          </a:ln>
        </p:spPr>
        <p:txBody>
          <a:bodyPr/>
          <a:lstStyle/>
          <a:p>
            <a:endParaRPr/>
          </a:p>
        </p:txBody>
      </p:sp>
      <p:sp>
        <p:nvSpPr>
          <p:cNvPr id="20" name="Text 17"/>
          <p:cNvSpPr/>
          <p:nvPr/>
        </p:nvSpPr>
        <p:spPr>
          <a:xfrm>
            <a:off x="6446520" y="5440680"/>
            <a:ext cx="1828800" cy="274320"/>
          </a:xfrm>
          <a:prstGeom prst="rect">
            <a:avLst/>
          </a:prstGeom>
          <a:noFill/>
          <a:ln/>
        </p:spPr>
        <p:txBody>
          <a:bodyPr wrap="square" lIns="0" tIns="0" rIns="0" bIns="0" rtlCol="0" anchor="ctr"/>
          <a:lstStyle/>
          <a:p>
            <a:pPr marL="0" indent="0">
              <a:buNone/>
            </a:pPr>
            <a:r>
              <a:rPr lang="en-US" sz="1200" b="1" kern="0" spc="100" dirty="0">
                <a:solidFill>
                  <a:srgbClr val="7A8399"/>
                </a:solidFill>
                <a:latin typeface="Segoe UI" pitchFamily="34" charset="0"/>
                <a:ea typeface="Segoe UI" pitchFamily="34" charset="-122"/>
                <a:cs typeface="Segoe UI" pitchFamily="34" charset="-120"/>
              </a:rPr>
              <a:t>I18N &amp; HOSTING</a:t>
            </a:r>
            <a:endParaRPr lang="en-US" sz="1200" dirty="0"/>
          </a:p>
        </p:txBody>
      </p:sp>
      <p:sp>
        <p:nvSpPr>
          <p:cNvPr id="21" name="Text 18"/>
          <p:cNvSpPr/>
          <p:nvPr/>
        </p:nvSpPr>
        <p:spPr>
          <a:xfrm>
            <a:off x="8366760" y="5413248"/>
            <a:ext cx="3291840" cy="566928"/>
          </a:xfrm>
          <a:prstGeom prst="rect">
            <a:avLst/>
          </a:prstGeom>
          <a:noFill/>
          <a:ln/>
        </p:spPr>
        <p:txBody>
          <a:bodyPr wrap="square" lIns="0" tIns="0" rIns="0" bIns="0" rtlCol="0" anchor="ctr"/>
          <a:lstStyle/>
          <a:p>
            <a:pPr marL="0" indent="0">
              <a:lnSpc>
                <a:spcPts val="1700"/>
              </a:lnSpc>
              <a:buNone/>
            </a:pPr>
            <a:r>
              <a:rPr lang="en-US" sz="1300" dirty="0">
                <a:solidFill>
                  <a:srgbClr val="2D3142"/>
                </a:solidFill>
                <a:latin typeface="Segoe UI" pitchFamily="34" charset="0"/>
                <a:ea typeface="Segoe UI" pitchFamily="34" charset="-122"/>
                <a:cs typeface="Segoe UI" pitchFamily="34" charset="-120"/>
              </a:rPr>
              <a:t>next-intl (EN · ZH · MS) · Vercel + Supabase Cloud</a:t>
            </a:r>
            <a:endParaRPr lang="en-US" sz="1300" dirty="0"/>
          </a:p>
        </p:txBody>
      </p:sp>
      <p:sp>
        <p:nvSpPr>
          <p:cNvPr id="22" name="Text 19"/>
          <p:cNvSpPr/>
          <p:nvPr/>
        </p:nvSpPr>
        <p:spPr>
          <a:xfrm>
            <a:off x="11274552" y="6382512"/>
            <a:ext cx="457200" cy="274320"/>
          </a:xfrm>
          <a:prstGeom prst="rect">
            <a:avLst/>
          </a:prstGeom>
          <a:noFill/>
          <a:ln/>
        </p:spPr>
        <p:txBody>
          <a:bodyPr wrap="square" lIns="0" tIns="0" rIns="0" bIns="0" rtlCol="0" anchor="ctr"/>
          <a:lstStyle/>
          <a:p>
            <a:pPr marL="0" indent="0" algn="r">
              <a:buNone/>
            </a:pPr>
            <a:r>
              <a:rPr lang="en-US" sz="1200" dirty="0">
                <a:solidFill>
                  <a:srgbClr val="7A8399"/>
                </a:solidFill>
                <a:latin typeface="Segoe UI" pitchFamily="34" charset="0"/>
                <a:ea typeface="Segoe UI" pitchFamily="34" charset="-122"/>
                <a:cs typeface="Segoe UI"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548640" y="475488"/>
            <a:ext cx="8229600" cy="292608"/>
          </a:xfrm>
          <a:prstGeom prst="rect">
            <a:avLst/>
          </a:prstGeom>
          <a:noFill/>
          <a:ln/>
        </p:spPr>
        <p:txBody>
          <a:bodyPr wrap="square" lIns="0" tIns="0" rIns="0" bIns="0" rtlCol="0" anchor="ctr"/>
          <a:lstStyle/>
          <a:p>
            <a:pPr marL="0" indent="0">
              <a:buNone/>
            </a:pPr>
            <a:r>
              <a:rPr lang="en-US" sz="1200" b="1" kern="0" spc="400" dirty="0">
                <a:solidFill>
                  <a:srgbClr val="4F5D75"/>
                </a:solidFill>
                <a:latin typeface="Segoe UI" pitchFamily="34" charset="0"/>
                <a:ea typeface="Segoe UI" pitchFamily="34" charset="-122"/>
                <a:cs typeface="Segoe UI" pitchFamily="34" charset="-120"/>
              </a:rPr>
              <a:t>BUILD PLAN — 3 WEEKS</a:t>
            </a:r>
            <a:endParaRPr lang="en-US" sz="1200" dirty="0"/>
          </a:p>
        </p:txBody>
      </p:sp>
      <p:sp>
        <p:nvSpPr>
          <p:cNvPr id="3" name="Text 1"/>
          <p:cNvSpPr/>
          <p:nvPr/>
        </p:nvSpPr>
        <p:spPr>
          <a:xfrm>
            <a:off x="548640" y="841248"/>
            <a:ext cx="11091672" cy="914400"/>
          </a:xfrm>
          <a:prstGeom prst="rect">
            <a:avLst/>
          </a:prstGeom>
          <a:noFill/>
          <a:ln/>
        </p:spPr>
        <p:txBody>
          <a:bodyPr wrap="square" lIns="0" tIns="0" rIns="0" bIns="0" rtlCol="0" anchor="ctr"/>
          <a:lstStyle/>
          <a:p>
            <a:pPr marL="0" indent="0">
              <a:buNone/>
            </a:pPr>
            <a:r>
              <a:rPr lang="en-US" sz="2800" dirty="0">
                <a:solidFill>
                  <a:srgbClr val="2D3142"/>
                </a:solidFill>
                <a:latin typeface="Georgia" pitchFamily="34" charset="0"/>
                <a:ea typeface="Georgia" pitchFamily="34" charset="-122"/>
                <a:cs typeface="Georgia" pitchFamily="34" charset="-120"/>
              </a:rPr>
              <a:t>18 days, 12 phases — the proposal system is the critical path</a:t>
            </a:r>
            <a:endParaRPr lang="en-US" sz="2800" dirty="0"/>
          </a:p>
        </p:txBody>
      </p:sp>
      <p:pic>
        <p:nvPicPr>
          <p:cNvPr id="4" name="Image 0" descr="C:/Users/weixu/Tripify/docs/diagrams/build-gantt.png"/>
          <p:cNvPicPr>
            <a:picLocks noChangeAspect="1"/>
          </p:cNvPicPr>
          <p:nvPr/>
        </p:nvPicPr>
        <p:blipFill>
          <a:blip r:embed="rId3"/>
          <a:stretch>
            <a:fillRect/>
          </a:stretch>
        </p:blipFill>
        <p:spPr>
          <a:xfrm>
            <a:off x="548640" y="2103120"/>
            <a:ext cx="5943600" cy="3803904"/>
          </a:xfrm>
          <a:prstGeom prst="rect">
            <a:avLst/>
          </a:prstGeom>
        </p:spPr>
      </p:pic>
      <p:sp>
        <p:nvSpPr>
          <p:cNvPr id="5" name="Shape 2"/>
          <p:cNvSpPr/>
          <p:nvPr/>
        </p:nvSpPr>
        <p:spPr>
          <a:xfrm>
            <a:off x="6858000" y="2103120"/>
            <a:ext cx="4782312" cy="0"/>
          </a:xfrm>
          <a:prstGeom prst="line">
            <a:avLst/>
          </a:prstGeom>
          <a:noFill/>
          <a:ln w="12700">
            <a:solidFill>
              <a:srgbClr val="D9D9DE"/>
            </a:solidFill>
            <a:prstDash val="solid"/>
          </a:ln>
        </p:spPr>
        <p:txBody>
          <a:bodyPr/>
          <a:lstStyle/>
          <a:p>
            <a:endParaRPr/>
          </a:p>
        </p:txBody>
      </p:sp>
      <p:sp>
        <p:nvSpPr>
          <p:cNvPr id="6" name="Text 3"/>
          <p:cNvSpPr/>
          <p:nvPr/>
        </p:nvSpPr>
        <p:spPr>
          <a:xfrm>
            <a:off x="6858000" y="2212848"/>
            <a:ext cx="1005840" cy="274320"/>
          </a:xfrm>
          <a:prstGeom prst="rect">
            <a:avLst/>
          </a:prstGeom>
          <a:noFill/>
          <a:ln/>
        </p:spPr>
        <p:txBody>
          <a:bodyPr wrap="square" lIns="0" tIns="0" rIns="0" bIns="0" rtlCol="0" anchor="ctr"/>
          <a:lstStyle/>
          <a:p>
            <a:pPr marL="0" indent="0">
              <a:buNone/>
            </a:pPr>
            <a:r>
              <a:rPr lang="en-US" sz="1500" dirty="0">
                <a:solidFill>
                  <a:srgbClr val="2D3142"/>
                </a:solidFill>
                <a:latin typeface="Georgia" pitchFamily="34" charset="0"/>
                <a:ea typeface="Georgia" pitchFamily="34" charset="-122"/>
                <a:cs typeface="Georgia" pitchFamily="34" charset="-120"/>
              </a:rPr>
              <a:t>D1–8</a:t>
            </a:r>
            <a:endParaRPr lang="en-US" sz="1500" dirty="0"/>
          </a:p>
        </p:txBody>
      </p:sp>
      <p:sp>
        <p:nvSpPr>
          <p:cNvPr id="7" name="Text 4"/>
          <p:cNvSpPr/>
          <p:nvPr/>
        </p:nvSpPr>
        <p:spPr>
          <a:xfrm>
            <a:off x="7955280" y="2221992"/>
            <a:ext cx="3657600" cy="566928"/>
          </a:xfrm>
          <a:prstGeom prst="rect">
            <a:avLst/>
          </a:prstGeom>
          <a:noFill/>
          <a:ln/>
        </p:spPr>
        <p:txBody>
          <a:bodyPr wrap="square" lIns="0" tIns="0" rIns="0" bIns="0" rtlCol="0" anchor="ctr"/>
          <a:lstStyle/>
          <a:p>
            <a:pPr marL="0" indent="0">
              <a:lnSpc>
                <a:spcPts val="1700"/>
              </a:lnSpc>
              <a:buNone/>
            </a:pPr>
            <a:r>
              <a:rPr lang="en-US" sz="1300" dirty="0">
                <a:solidFill>
                  <a:srgbClr val="4F5D75"/>
                </a:solidFill>
                <a:latin typeface="Segoe UI" pitchFamily="34" charset="0"/>
                <a:ea typeface="Segoe UI" pitchFamily="34" charset="-122"/>
                <a:cs typeface="Segoe UI" pitchFamily="34" charset="-120"/>
              </a:rPr>
              <a:t>Core app — auth, trips, itinerary, maps, chat</a:t>
            </a:r>
            <a:endParaRPr lang="en-US" sz="1300" dirty="0"/>
          </a:p>
        </p:txBody>
      </p:sp>
      <p:sp>
        <p:nvSpPr>
          <p:cNvPr id="8" name="Shape 5"/>
          <p:cNvSpPr/>
          <p:nvPr/>
        </p:nvSpPr>
        <p:spPr>
          <a:xfrm>
            <a:off x="6858000" y="2852928"/>
            <a:ext cx="4782312" cy="0"/>
          </a:xfrm>
          <a:prstGeom prst="line">
            <a:avLst/>
          </a:prstGeom>
          <a:noFill/>
          <a:ln w="12700">
            <a:solidFill>
              <a:srgbClr val="D9D9DE"/>
            </a:solidFill>
            <a:prstDash val="solid"/>
          </a:ln>
        </p:spPr>
        <p:txBody>
          <a:bodyPr/>
          <a:lstStyle/>
          <a:p>
            <a:endParaRPr/>
          </a:p>
        </p:txBody>
      </p:sp>
      <p:sp>
        <p:nvSpPr>
          <p:cNvPr id="9" name="Text 6"/>
          <p:cNvSpPr/>
          <p:nvPr/>
        </p:nvSpPr>
        <p:spPr>
          <a:xfrm>
            <a:off x="6858000" y="2962656"/>
            <a:ext cx="1005840" cy="274320"/>
          </a:xfrm>
          <a:prstGeom prst="rect">
            <a:avLst/>
          </a:prstGeom>
          <a:noFill/>
          <a:ln/>
        </p:spPr>
        <p:txBody>
          <a:bodyPr wrap="square" lIns="0" tIns="0" rIns="0" bIns="0" rtlCol="0" anchor="ctr"/>
          <a:lstStyle/>
          <a:p>
            <a:pPr marL="0" indent="0">
              <a:buNone/>
            </a:pPr>
            <a:r>
              <a:rPr lang="en-US" sz="1500" dirty="0">
                <a:solidFill>
                  <a:srgbClr val="2D3142"/>
                </a:solidFill>
                <a:latin typeface="Georgia" pitchFamily="34" charset="0"/>
                <a:ea typeface="Georgia" pitchFamily="34" charset="-122"/>
                <a:cs typeface="Georgia" pitchFamily="34" charset="-120"/>
              </a:rPr>
              <a:t>D9–11</a:t>
            </a:r>
            <a:endParaRPr lang="en-US" sz="1500" dirty="0"/>
          </a:p>
        </p:txBody>
      </p:sp>
      <p:sp>
        <p:nvSpPr>
          <p:cNvPr id="10" name="Text 7"/>
          <p:cNvSpPr/>
          <p:nvPr/>
        </p:nvSpPr>
        <p:spPr>
          <a:xfrm>
            <a:off x="7955280" y="2971800"/>
            <a:ext cx="3657600" cy="566928"/>
          </a:xfrm>
          <a:prstGeom prst="rect">
            <a:avLst/>
          </a:prstGeom>
          <a:noFill/>
          <a:ln/>
        </p:spPr>
        <p:txBody>
          <a:bodyPr wrap="square" lIns="0" tIns="0" rIns="0" bIns="0" rtlCol="0" anchor="ctr"/>
          <a:lstStyle/>
          <a:p>
            <a:pPr marL="0" indent="0">
              <a:lnSpc>
                <a:spcPts val="1700"/>
              </a:lnSpc>
              <a:buNone/>
            </a:pPr>
            <a:r>
              <a:rPr lang="en-US" sz="1300" dirty="0">
                <a:solidFill>
                  <a:srgbClr val="4F5D75"/>
                </a:solidFill>
                <a:latin typeface="Segoe UI" pitchFamily="34" charset="0"/>
                <a:ea typeface="Segoe UI" pitchFamily="34" charset="-122"/>
                <a:cs typeface="Segoe UI" pitchFamily="34" charset="-120"/>
              </a:rPr>
              <a:t>AI foundation — context builder + 9 agent tools</a:t>
            </a:r>
            <a:endParaRPr lang="en-US" sz="1300" dirty="0"/>
          </a:p>
        </p:txBody>
      </p:sp>
      <p:sp>
        <p:nvSpPr>
          <p:cNvPr id="11" name="Shape 8"/>
          <p:cNvSpPr/>
          <p:nvPr/>
        </p:nvSpPr>
        <p:spPr>
          <a:xfrm>
            <a:off x="6858000" y="3602736"/>
            <a:ext cx="4782312" cy="0"/>
          </a:xfrm>
          <a:prstGeom prst="line">
            <a:avLst/>
          </a:prstGeom>
          <a:noFill/>
          <a:ln w="12700">
            <a:solidFill>
              <a:srgbClr val="D9D9DE"/>
            </a:solidFill>
            <a:prstDash val="solid"/>
          </a:ln>
        </p:spPr>
        <p:txBody>
          <a:bodyPr/>
          <a:lstStyle/>
          <a:p>
            <a:endParaRPr/>
          </a:p>
        </p:txBody>
      </p:sp>
      <p:sp>
        <p:nvSpPr>
          <p:cNvPr id="12" name="Text 9"/>
          <p:cNvSpPr/>
          <p:nvPr/>
        </p:nvSpPr>
        <p:spPr>
          <a:xfrm>
            <a:off x="6858000" y="3712464"/>
            <a:ext cx="1005840" cy="274320"/>
          </a:xfrm>
          <a:prstGeom prst="rect">
            <a:avLst/>
          </a:prstGeom>
          <a:noFill/>
          <a:ln/>
        </p:spPr>
        <p:txBody>
          <a:bodyPr wrap="square" lIns="0" tIns="0" rIns="0" bIns="0" rtlCol="0" anchor="ctr"/>
          <a:lstStyle/>
          <a:p>
            <a:pPr marL="0" indent="0">
              <a:buNone/>
            </a:pPr>
            <a:r>
              <a:rPr lang="en-US" sz="1500" dirty="0">
                <a:solidFill>
                  <a:srgbClr val="EB6C36"/>
                </a:solidFill>
                <a:latin typeface="Georgia" pitchFamily="34" charset="0"/>
                <a:ea typeface="Georgia" pitchFamily="34" charset="-122"/>
                <a:cs typeface="Georgia" pitchFamily="34" charset="-120"/>
              </a:rPr>
              <a:t>D12–13</a:t>
            </a:r>
            <a:endParaRPr lang="en-US" sz="1500" dirty="0"/>
          </a:p>
        </p:txBody>
      </p:sp>
      <p:sp>
        <p:nvSpPr>
          <p:cNvPr id="13" name="Text 10"/>
          <p:cNvSpPr/>
          <p:nvPr/>
        </p:nvSpPr>
        <p:spPr>
          <a:xfrm>
            <a:off x="7955280" y="3721608"/>
            <a:ext cx="3657600" cy="566928"/>
          </a:xfrm>
          <a:prstGeom prst="rect">
            <a:avLst/>
          </a:prstGeom>
          <a:noFill/>
          <a:ln/>
        </p:spPr>
        <p:txBody>
          <a:bodyPr wrap="square" lIns="0" tIns="0" rIns="0" bIns="0" rtlCol="0" anchor="ctr"/>
          <a:lstStyle/>
          <a:p>
            <a:pPr marL="0" indent="0">
              <a:lnSpc>
                <a:spcPts val="1700"/>
              </a:lnSpc>
              <a:buNone/>
            </a:pPr>
            <a:r>
              <a:rPr lang="en-US" sz="1300" b="1" dirty="0">
                <a:solidFill>
                  <a:srgbClr val="EB6C36"/>
                </a:solidFill>
                <a:latin typeface="Segoe UI" pitchFamily="34" charset="0"/>
                <a:ea typeface="Segoe UI" pitchFamily="34" charset="-122"/>
                <a:cs typeface="Segoe UI" pitchFamily="34" charset="-120"/>
              </a:rPr>
              <a:t>Proposal system — the differentiator, built early</a:t>
            </a:r>
            <a:endParaRPr lang="en-US" sz="1300" dirty="0"/>
          </a:p>
        </p:txBody>
      </p:sp>
      <p:sp>
        <p:nvSpPr>
          <p:cNvPr id="14" name="Shape 11"/>
          <p:cNvSpPr/>
          <p:nvPr/>
        </p:nvSpPr>
        <p:spPr>
          <a:xfrm>
            <a:off x="6858000" y="4352544"/>
            <a:ext cx="4782312" cy="0"/>
          </a:xfrm>
          <a:prstGeom prst="line">
            <a:avLst/>
          </a:prstGeom>
          <a:noFill/>
          <a:ln w="12700">
            <a:solidFill>
              <a:srgbClr val="D9D9DE"/>
            </a:solidFill>
            <a:prstDash val="solid"/>
          </a:ln>
        </p:spPr>
        <p:txBody>
          <a:bodyPr/>
          <a:lstStyle/>
          <a:p>
            <a:endParaRPr/>
          </a:p>
        </p:txBody>
      </p:sp>
      <p:sp>
        <p:nvSpPr>
          <p:cNvPr id="15" name="Text 12"/>
          <p:cNvSpPr/>
          <p:nvPr/>
        </p:nvSpPr>
        <p:spPr>
          <a:xfrm>
            <a:off x="6858000" y="4462272"/>
            <a:ext cx="1005840" cy="274320"/>
          </a:xfrm>
          <a:prstGeom prst="rect">
            <a:avLst/>
          </a:prstGeom>
          <a:noFill/>
          <a:ln/>
        </p:spPr>
        <p:txBody>
          <a:bodyPr wrap="square" lIns="0" tIns="0" rIns="0" bIns="0" rtlCol="0" anchor="ctr"/>
          <a:lstStyle/>
          <a:p>
            <a:pPr marL="0" indent="0">
              <a:buNone/>
            </a:pPr>
            <a:r>
              <a:rPr lang="en-US" sz="1500" dirty="0">
                <a:solidFill>
                  <a:srgbClr val="2D3142"/>
                </a:solidFill>
                <a:latin typeface="Georgia" pitchFamily="34" charset="0"/>
                <a:ea typeface="Georgia" pitchFamily="34" charset="-122"/>
                <a:cs typeface="Georgia" pitchFamily="34" charset="-120"/>
              </a:rPr>
              <a:t>D14–16</a:t>
            </a:r>
            <a:endParaRPr lang="en-US" sz="1500" dirty="0"/>
          </a:p>
        </p:txBody>
      </p:sp>
      <p:sp>
        <p:nvSpPr>
          <p:cNvPr id="16" name="Text 13"/>
          <p:cNvSpPr/>
          <p:nvPr/>
        </p:nvSpPr>
        <p:spPr>
          <a:xfrm>
            <a:off x="7955280" y="4471416"/>
            <a:ext cx="3657600" cy="566928"/>
          </a:xfrm>
          <a:prstGeom prst="rect">
            <a:avLst/>
          </a:prstGeom>
          <a:noFill/>
          <a:ln/>
        </p:spPr>
        <p:txBody>
          <a:bodyPr wrap="square" lIns="0" tIns="0" rIns="0" bIns="0" rtlCol="0" anchor="ctr"/>
          <a:lstStyle/>
          <a:p>
            <a:pPr marL="0" indent="0">
              <a:lnSpc>
                <a:spcPts val="1700"/>
              </a:lnSpc>
              <a:buNone/>
            </a:pPr>
            <a:r>
              <a:rPr lang="en-US" sz="1300" dirty="0">
                <a:solidFill>
                  <a:srgbClr val="4F5D75"/>
                </a:solidFill>
                <a:latin typeface="Segoe UI" pitchFamily="34" charset="0"/>
                <a:ea typeface="Segoe UI" pitchFamily="34" charset="-122"/>
                <a:cs typeface="Segoe UI" pitchFamily="34" charset="-120"/>
              </a:rPr>
              <a:t>Research, recommendations, dynamic replanning</a:t>
            </a:r>
            <a:endParaRPr lang="en-US" sz="1300" dirty="0"/>
          </a:p>
        </p:txBody>
      </p:sp>
      <p:sp>
        <p:nvSpPr>
          <p:cNvPr id="17" name="Shape 14"/>
          <p:cNvSpPr/>
          <p:nvPr/>
        </p:nvSpPr>
        <p:spPr>
          <a:xfrm>
            <a:off x="6858000" y="5102352"/>
            <a:ext cx="4782312" cy="0"/>
          </a:xfrm>
          <a:prstGeom prst="line">
            <a:avLst/>
          </a:prstGeom>
          <a:noFill/>
          <a:ln w="12700">
            <a:solidFill>
              <a:srgbClr val="D9D9DE"/>
            </a:solidFill>
            <a:prstDash val="solid"/>
          </a:ln>
        </p:spPr>
        <p:txBody>
          <a:bodyPr/>
          <a:lstStyle/>
          <a:p>
            <a:endParaRPr/>
          </a:p>
        </p:txBody>
      </p:sp>
      <p:sp>
        <p:nvSpPr>
          <p:cNvPr id="18" name="Text 15"/>
          <p:cNvSpPr/>
          <p:nvPr/>
        </p:nvSpPr>
        <p:spPr>
          <a:xfrm>
            <a:off x="6858000" y="5212080"/>
            <a:ext cx="1005840" cy="274320"/>
          </a:xfrm>
          <a:prstGeom prst="rect">
            <a:avLst/>
          </a:prstGeom>
          <a:noFill/>
          <a:ln/>
        </p:spPr>
        <p:txBody>
          <a:bodyPr wrap="square" lIns="0" tIns="0" rIns="0" bIns="0" rtlCol="0" anchor="ctr"/>
          <a:lstStyle/>
          <a:p>
            <a:pPr marL="0" indent="0">
              <a:buNone/>
            </a:pPr>
            <a:r>
              <a:rPr lang="en-US" sz="1500" dirty="0">
                <a:solidFill>
                  <a:srgbClr val="2D3142"/>
                </a:solidFill>
                <a:latin typeface="Georgia" pitchFamily="34" charset="0"/>
                <a:ea typeface="Georgia" pitchFamily="34" charset="-122"/>
                <a:cs typeface="Georgia" pitchFamily="34" charset="-120"/>
              </a:rPr>
              <a:t>D17–18</a:t>
            </a:r>
            <a:endParaRPr lang="en-US" sz="1500" dirty="0"/>
          </a:p>
        </p:txBody>
      </p:sp>
      <p:sp>
        <p:nvSpPr>
          <p:cNvPr id="19" name="Text 16"/>
          <p:cNvSpPr/>
          <p:nvPr/>
        </p:nvSpPr>
        <p:spPr>
          <a:xfrm>
            <a:off x="7955280" y="5221224"/>
            <a:ext cx="3657600" cy="566928"/>
          </a:xfrm>
          <a:prstGeom prst="rect">
            <a:avLst/>
          </a:prstGeom>
          <a:noFill/>
          <a:ln/>
        </p:spPr>
        <p:txBody>
          <a:bodyPr wrap="square" lIns="0" tIns="0" rIns="0" bIns="0" rtlCol="0" anchor="ctr"/>
          <a:lstStyle/>
          <a:p>
            <a:pPr marL="0" indent="0">
              <a:lnSpc>
                <a:spcPts val="1700"/>
              </a:lnSpc>
              <a:buNone/>
            </a:pPr>
            <a:r>
              <a:rPr lang="en-US" sz="1300" dirty="0">
                <a:solidFill>
                  <a:srgbClr val="4F5D75"/>
                </a:solidFill>
                <a:latin typeface="Segoe UI" pitchFamily="34" charset="0"/>
                <a:ea typeface="Segoe UI" pitchFamily="34" charset="-122"/>
                <a:cs typeface="Segoe UI" pitchFamily="34" charset="-120"/>
              </a:rPr>
              <a:t>Polish — states, mobile layout, demo scenario</a:t>
            </a:r>
            <a:endParaRPr lang="en-US" sz="1300" dirty="0"/>
          </a:p>
        </p:txBody>
      </p:sp>
      <p:sp>
        <p:nvSpPr>
          <p:cNvPr id="20" name="Text 17"/>
          <p:cNvSpPr/>
          <p:nvPr/>
        </p:nvSpPr>
        <p:spPr>
          <a:xfrm>
            <a:off x="11274552" y="6382512"/>
            <a:ext cx="457200" cy="274320"/>
          </a:xfrm>
          <a:prstGeom prst="rect">
            <a:avLst/>
          </a:prstGeom>
          <a:noFill/>
          <a:ln/>
        </p:spPr>
        <p:txBody>
          <a:bodyPr wrap="square" lIns="0" tIns="0" rIns="0" bIns="0" rtlCol="0" anchor="ctr"/>
          <a:lstStyle/>
          <a:p>
            <a:pPr marL="0" indent="0" algn="r">
              <a:buNone/>
            </a:pPr>
            <a:r>
              <a:rPr lang="en-US" sz="1200" dirty="0">
                <a:solidFill>
                  <a:srgbClr val="7A8399"/>
                </a:solidFill>
                <a:latin typeface="Segoe UI" pitchFamily="34" charset="0"/>
                <a:ea typeface="Segoe UI" pitchFamily="34" charset="-122"/>
                <a:cs typeface="Segoe UI"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D3142"/>
        </a:solidFill>
        <a:effectLst/>
      </p:bgPr>
    </p:bg>
    <p:spTree>
      <p:nvGrpSpPr>
        <p:cNvPr id="1" name=""/>
        <p:cNvGrpSpPr/>
        <p:nvPr/>
      </p:nvGrpSpPr>
      <p:grpSpPr>
        <a:xfrm>
          <a:off x="0" y="0"/>
          <a:ext cx="0" cy="0"/>
          <a:chOff x="0" y="0"/>
          <a:chExt cx="0" cy="0"/>
        </a:xfrm>
      </p:grpSpPr>
      <p:sp>
        <p:nvSpPr>
          <p:cNvPr id="2" name="Text 0"/>
          <p:cNvSpPr/>
          <p:nvPr/>
        </p:nvSpPr>
        <p:spPr>
          <a:xfrm>
            <a:off x="548640" y="475488"/>
            <a:ext cx="8229600" cy="292608"/>
          </a:xfrm>
          <a:prstGeom prst="rect">
            <a:avLst/>
          </a:prstGeom>
          <a:noFill/>
          <a:ln/>
        </p:spPr>
        <p:txBody>
          <a:bodyPr wrap="square" lIns="0" tIns="0" rIns="0" bIns="0" rtlCol="0" anchor="ctr"/>
          <a:lstStyle/>
          <a:p>
            <a:pPr marL="0" indent="0">
              <a:buNone/>
            </a:pPr>
            <a:r>
              <a:rPr lang="en-US" sz="1200" b="1" kern="0" spc="400" dirty="0">
                <a:solidFill>
                  <a:srgbClr val="BFC0C0"/>
                </a:solidFill>
                <a:latin typeface="Segoe UI" pitchFamily="34" charset="0"/>
                <a:ea typeface="Segoe UI" pitchFamily="34" charset="-122"/>
                <a:cs typeface="Segoe UI" pitchFamily="34" charset="-120"/>
              </a:rPr>
              <a:t>IMPACT</a:t>
            </a:r>
            <a:endParaRPr lang="en-US" sz="1200" dirty="0"/>
          </a:p>
        </p:txBody>
      </p:sp>
      <p:sp>
        <p:nvSpPr>
          <p:cNvPr id="3" name="Text 1"/>
          <p:cNvSpPr/>
          <p:nvPr/>
        </p:nvSpPr>
        <p:spPr>
          <a:xfrm>
            <a:off x="548640" y="960120"/>
            <a:ext cx="10058400" cy="822960"/>
          </a:xfrm>
          <a:prstGeom prst="rect">
            <a:avLst/>
          </a:prstGeom>
          <a:noFill/>
          <a:ln/>
        </p:spPr>
        <p:txBody>
          <a:bodyPr wrap="square" lIns="0" tIns="0" rIns="0" bIns="0" rtlCol="0" anchor="ctr"/>
          <a:lstStyle/>
          <a:p>
            <a:pPr marL="0" indent="0">
              <a:buNone/>
            </a:pPr>
            <a:r>
              <a:rPr lang="en-US" sz="4000" dirty="0">
                <a:solidFill>
                  <a:srgbClr val="F5F5F5"/>
                </a:solidFill>
                <a:latin typeface="Georgia" pitchFamily="34" charset="0"/>
                <a:ea typeface="Georgia" pitchFamily="34" charset="-122"/>
                <a:cs typeface="Georgia" pitchFamily="34" charset="-120"/>
              </a:rPr>
              <a:t>What concretely changes</a:t>
            </a:r>
            <a:endParaRPr lang="en-US" sz="4000" dirty="0"/>
          </a:p>
        </p:txBody>
      </p:sp>
      <p:sp>
        <p:nvSpPr>
          <p:cNvPr id="4" name="Shape 2"/>
          <p:cNvSpPr/>
          <p:nvPr/>
        </p:nvSpPr>
        <p:spPr>
          <a:xfrm>
            <a:off x="548640" y="2428945"/>
            <a:ext cx="10058400" cy="0"/>
          </a:xfrm>
          <a:prstGeom prst="line">
            <a:avLst/>
          </a:prstGeom>
          <a:noFill/>
          <a:ln w="12700">
            <a:solidFill>
              <a:srgbClr val="454A5E"/>
            </a:solidFill>
            <a:prstDash val="solid"/>
          </a:ln>
        </p:spPr>
        <p:txBody>
          <a:bodyPr/>
          <a:lstStyle/>
          <a:p>
            <a:endParaRPr/>
          </a:p>
        </p:txBody>
      </p:sp>
      <p:sp>
        <p:nvSpPr>
          <p:cNvPr id="5" name="Text 3"/>
          <p:cNvSpPr/>
          <p:nvPr/>
        </p:nvSpPr>
        <p:spPr>
          <a:xfrm>
            <a:off x="548640" y="2575249"/>
            <a:ext cx="10515600" cy="502920"/>
          </a:xfrm>
          <a:prstGeom prst="rect">
            <a:avLst/>
          </a:prstGeom>
          <a:noFill/>
          <a:ln/>
        </p:spPr>
        <p:txBody>
          <a:bodyPr wrap="square" lIns="0" tIns="0" rIns="0" bIns="0" rtlCol="0" anchor="ctr"/>
          <a:lstStyle/>
          <a:p>
            <a:pPr marL="0" indent="0">
              <a:buNone/>
            </a:pPr>
            <a:r>
              <a:rPr lang="en-US" sz="1700" b="1" dirty="0">
                <a:solidFill>
                  <a:srgbClr val="F5F5F5"/>
                </a:solidFill>
                <a:latin typeface="Segoe UI" pitchFamily="34" charset="0"/>
                <a:ea typeface="Segoe UI" pitchFamily="34" charset="-122"/>
                <a:cs typeface="Segoe UI" pitchFamily="34" charset="-120"/>
              </a:rPr>
              <a:t>No more lost threads — </a:t>
            </a:r>
            <a:r>
              <a:rPr lang="en-US" sz="1700" dirty="0">
                <a:solidFill>
                  <a:srgbClr val="BFC0C0"/>
                </a:solidFill>
                <a:latin typeface="Segoe UI" pitchFamily="34" charset="0"/>
                <a:ea typeface="Segoe UI" pitchFamily="34" charset="-122"/>
                <a:cs typeface="Segoe UI" pitchFamily="34" charset="-120"/>
              </a:rPr>
              <a:t>every decision lives with the plan, with a rationale attached</a:t>
            </a:r>
            <a:endParaRPr lang="en-US" sz="1700" dirty="0"/>
          </a:p>
        </p:txBody>
      </p:sp>
      <p:sp>
        <p:nvSpPr>
          <p:cNvPr id="6" name="Shape 4"/>
          <p:cNvSpPr/>
          <p:nvPr/>
        </p:nvSpPr>
        <p:spPr>
          <a:xfrm>
            <a:off x="548640" y="3297625"/>
            <a:ext cx="10058400" cy="0"/>
          </a:xfrm>
          <a:prstGeom prst="line">
            <a:avLst/>
          </a:prstGeom>
          <a:noFill/>
          <a:ln w="12700">
            <a:solidFill>
              <a:srgbClr val="454A5E"/>
            </a:solidFill>
            <a:prstDash val="solid"/>
          </a:ln>
        </p:spPr>
        <p:txBody>
          <a:bodyPr/>
          <a:lstStyle/>
          <a:p>
            <a:endParaRPr/>
          </a:p>
        </p:txBody>
      </p:sp>
      <p:sp>
        <p:nvSpPr>
          <p:cNvPr id="7" name="Text 5"/>
          <p:cNvSpPr/>
          <p:nvPr/>
        </p:nvSpPr>
        <p:spPr>
          <a:xfrm>
            <a:off x="548640" y="3443929"/>
            <a:ext cx="10515600" cy="502920"/>
          </a:xfrm>
          <a:prstGeom prst="rect">
            <a:avLst/>
          </a:prstGeom>
          <a:noFill/>
          <a:ln/>
        </p:spPr>
        <p:txBody>
          <a:bodyPr wrap="square" lIns="0" tIns="0" rIns="0" bIns="0" rtlCol="0" anchor="ctr"/>
          <a:lstStyle/>
          <a:p>
            <a:pPr marL="0" indent="0">
              <a:buNone/>
            </a:pPr>
            <a:r>
              <a:rPr lang="en-US" sz="1700" b="1" dirty="0">
                <a:solidFill>
                  <a:srgbClr val="F5F5F5"/>
                </a:solidFill>
                <a:latin typeface="Segoe UI" pitchFamily="34" charset="0"/>
                <a:ea typeface="Segoe UI" pitchFamily="34" charset="-122"/>
                <a:cs typeface="Segoe UI" pitchFamily="34" charset="-120"/>
              </a:rPr>
              <a:t>No silent overrides — </a:t>
            </a:r>
            <a:r>
              <a:rPr lang="en-US" sz="1700" dirty="0">
                <a:solidFill>
                  <a:srgbClr val="BFC0C0"/>
                </a:solidFill>
                <a:latin typeface="Segoe UI" pitchFamily="34" charset="0"/>
                <a:ea typeface="Segoe UI" pitchFamily="34" charset="-122"/>
                <a:cs typeface="Segoe UI" pitchFamily="34" charset="-120"/>
              </a:rPr>
              <a:t>changes ship only when the group votes — the plan is versioned</a:t>
            </a:r>
            <a:endParaRPr lang="en-US" sz="1700" dirty="0"/>
          </a:p>
        </p:txBody>
      </p:sp>
      <p:sp>
        <p:nvSpPr>
          <p:cNvPr id="8" name="Shape 6"/>
          <p:cNvSpPr/>
          <p:nvPr/>
        </p:nvSpPr>
        <p:spPr>
          <a:xfrm>
            <a:off x="548640" y="4166305"/>
            <a:ext cx="10058400" cy="0"/>
          </a:xfrm>
          <a:prstGeom prst="line">
            <a:avLst/>
          </a:prstGeom>
          <a:noFill/>
          <a:ln w="12700">
            <a:solidFill>
              <a:srgbClr val="454A5E"/>
            </a:solidFill>
            <a:prstDash val="solid"/>
          </a:ln>
        </p:spPr>
        <p:txBody>
          <a:bodyPr/>
          <a:lstStyle/>
          <a:p>
            <a:endParaRPr/>
          </a:p>
        </p:txBody>
      </p:sp>
      <p:sp>
        <p:nvSpPr>
          <p:cNvPr id="9" name="Text 7"/>
          <p:cNvSpPr/>
          <p:nvPr/>
        </p:nvSpPr>
        <p:spPr>
          <a:xfrm>
            <a:off x="548640" y="4312609"/>
            <a:ext cx="10515600" cy="502920"/>
          </a:xfrm>
          <a:prstGeom prst="rect">
            <a:avLst/>
          </a:prstGeom>
          <a:noFill/>
          <a:ln/>
        </p:spPr>
        <p:txBody>
          <a:bodyPr wrap="square" lIns="0" tIns="0" rIns="0" bIns="0" rtlCol="0" anchor="ctr"/>
          <a:lstStyle/>
          <a:p>
            <a:pPr marL="0" indent="0">
              <a:buNone/>
            </a:pPr>
            <a:r>
              <a:rPr lang="en-US" sz="1700" b="1" dirty="0">
                <a:solidFill>
                  <a:srgbClr val="F5F5F5"/>
                </a:solidFill>
                <a:latin typeface="Segoe UI" pitchFamily="34" charset="0"/>
                <a:ea typeface="Segoe UI" pitchFamily="34" charset="-122"/>
                <a:cs typeface="Segoe UI" pitchFamily="34" charset="-120"/>
              </a:rPr>
              <a:t>Plans that survive reality — </a:t>
            </a:r>
            <a:r>
              <a:rPr lang="en-US" sz="1700" dirty="0">
                <a:solidFill>
                  <a:srgbClr val="BFC0C0"/>
                </a:solidFill>
                <a:latin typeface="Segoe UI" pitchFamily="34" charset="0"/>
                <a:ea typeface="Segoe UI" pitchFamily="34" charset="-122"/>
                <a:cs typeface="Segoe UI" pitchFamily="34" charset="-120"/>
              </a:rPr>
              <a:t>replanning is built in, not bolted on after things go wrong</a:t>
            </a:r>
            <a:endParaRPr lang="en-US" sz="1700" dirty="0"/>
          </a:p>
        </p:txBody>
      </p:sp>
      <p:sp>
        <p:nvSpPr>
          <p:cNvPr id="11" name="Shape 9"/>
          <p:cNvSpPr/>
          <p:nvPr/>
        </p:nvSpPr>
        <p:spPr>
          <a:xfrm>
            <a:off x="548640" y="5871754"/>
            <a:ext cx="11091672" cy="0"/>
          </a:xfrm>
          <a:prstGeom prst="line">
            <a:avLst/>
          </a:prstGeom>
          <a:noFill/>
          <a:ln w="12700">
            <a:solidFill>
              <a:srgbClr val="454A5E"/>
            </a:solidFill>
            <a:prstDash val="solid"/>
          </a:ln>
        </p:spPr>
        <p:txBody>
          <a:bodyPr/>
          <a:lstStyle/>
          <a:p>
            <a:endParaRPr/>
          </a:p>
        </p:txBody>
      </p:sp>
      <p:sp>
        <p:nvSpPr>
          <p:cNvPr id="12" name="Text 10"/>
          <p:cNvSpPr/>
          <p:nvPr/>
        </p:nvSpPr>
        <p:spPr>
          <a:xfrm>
            <a:off x="548640" y="6008914"/>
            <a:ext cx="10058400" cy="292608"/>
          </a:xfrm>
          <a:prstGeom prst="rect">
            <a:avLst/>
          </a:prstGeom>
          <a:noFill/>
          <a:ln/>
        </p:spPr>
        <p:txBody>
          <a:bodyPr wrap="square" lIns="0" tIns="0" rIns="0" bIns="0" rtlCol="0" anchor="ctr"/>
          <a:lstStyle/>
          <a:p>
            <a:pPr marL="0" indent="0">
              <a:buNone/>
            </a:pPr>
            <a:r>
              <a:rPr lang="en-US" sz="1300" dirty="0">
                <a:solidFill>
                  <a:srgbClr val="BFC0C0"/>
                </a:solidFill>
                <a:latin typeface="Segoe UI" pitchFamily="34" charset="0"/>
                <a:ea typeface="Segoe UI" pitchFamily="34" charset="-122"/>
                <a:cs typeface="Segoe UI" pitchFamily="34" charset="-120"/>
              </a:rPr>
              <a:t>Tripify  ·  Studify  —  Tan Sim Po · She Jia Xuan · Chong Wei Xuan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2040</Words>
  <Application>Microsoft Office PowerPoint</Application>
  <PresentationFormat>Widescreen</PresentationFormat>
  <Paragraphs>209</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Georgia</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Tripify — Video Pitch</dc:title>
  <dc:subject>PptxGenJS Presentation</dc:subject>
  <dc:creator>Studify</dc:creator>
  <cp:lastModifiedBy>CHONG WEI XUAN</cp:lastModifiedBy>
  <cp:revision>2</cp:revision>
  <dcterms:created xsi:type="dcterms:W3CDTF">2026-09-12T01:45:58Z</dcterms:created>
  <dcterms:modified xsi:type="dcterms:W3CDTF">2026-09-12T02:02:53Z</dcterms:modified>
</cp:coreProperties>
</file>